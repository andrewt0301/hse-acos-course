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8"/>
  </p:notesMasterIdLst>
  <p:handoutMasterIdLst>
    <p:handoutMasterId r:id="rId29"/>
  </p:handoutMasterIdLst>
  <p:sldIdLst>
    <p:sldId id="256" r:id="rId2"/>
    <p:sldId id="276" r:id="rId3"/>
    <p:sldId id="273" r:id="rId4"/>
    <p:sldId id="299" r:id="rId5"/>
    <p:sldId id="274" r:id="rId6"/>
    <p:sldId id="277" r:id="rId7"/>
    <p:sldId id="280" r:id="rId8"/>
    <p:sldId id="282" r:id="rId9"/>
    <p:sldId id="283" r:id="rId10"/>
    <p:sldId id="284" r:id="rId11"/>
    <p:sldId id="285" r:id="rId12"/>
    <p:sldId id="297" r:id="rId13"/>
    <p:sldId id="287" r:id="rId14"/>
    <p:sldId id="279" r:id="rId15"/>
    <p:sldId id="289" r:id="rId16"/>
    <p:sldId id="290" r:id="rId17"/>
    <p:sldId id="291" r:id="rId18"/>
    <p:sldId id="288" r:id="rId19"/>
    <p:sldId id="293" r:id="rId20"/>
    <p:sldId id="295" r:id="rId21"/>
    <p:sldId id="281" r:id="rId22"/>
    <p:sldId id="294" r:id="rId23"/>
    <p:sldId id="292" r:id="rId24"/>
    <p:sldId id="298" r:id="rId25"/>
    <p:sldId id="296" r:id="rId26"/>
    <p:sldId id="272" r:id="rId2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 xmlns="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Камкин Александр Сергеевич" initials="КАС" lastIdx="1" clrIdx="0">
    <p:extLst/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73272"/>
    <a:srgbClr val="2F5CB5"/>
    <a:srgbClr val="F7B217"/>
    <a:srgbClr val="1E3272"/>
    <a:srgbClr val="F8BA30"/>
    <a:srgbClr val="FF6600"/>
    <a:srgbClr val="F07F09"/>
    <a:srgbClr val="FFC000"/>
    <a:srgbClr val="2E5E8E"/>
    <a:srgbClr val="224466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32" autoAdjust="0"/>
    <p:restoredTop sz="91484" autoAdjust="0"/>
  </p:normalViewPr>
  <p:slideViewPr>
    <p:cSldViewPr snapToGrid="0">
      <p:cViewPr varScale="1">
        <p:scale>
          <a:sx n="100" d="100"/>
          <a:sy n="100" d="100"/>
        </p:scale>
        <p:origin x="-852" y="-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-3072" y="-96"/>
      </p:cViewPr>
      <p:guideLst>
        <p:guide orient="horz" pos="2880"/>
        <p:guide pos="2160"/>
      </p:guideLst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106195-8D78-4F6F-B8E4-FA67975ACEF5}" type="datetimeFigureOut">
              <a:rPr lang="ru-RU" smtClean="0"/>
              <a:pPr/>
              <a:t>12.01.2026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F301F6-630C-4517-9108-FC1E44EE8C8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827279973"/>
      </p:ext>
    </p:extLst>
  </p:cSld>
  <p:clrMap bg1="lt1" tx1="dk1" bg2="lt2" tx2="dk2" accent1="accent1" accent2="accent2" accent3="accent3" accent4="accent4" accent5="accent5" accent6="accent6" hlink="hlink" folHlink="folHlink"/>
  <p:hf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8212F1-C3D9-4F2B-8F42-5E960FE8BE51}" type="datetimeFigureOut">
              <a:rPr lang="ru-RU" smtClean="0"/>
              <a:pPr/>
              <a:t>12.01.2026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83B3A5-99BF-45D9-956B-DC57CC23AD9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3865021395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583B3A5-99BF-45D9-956B-DC57CC23AD97}" type="slidenum">
              <a:rPr lang="ru-RU" smtClean="0"/>
              <a:pPr/>
              <a:t>1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Верхний колонтитул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23817915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Верхний колонтитул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83B3A5-99BF-45D9-956B-DC57CC23AD97}" type="slidenum">
              <a:rPr lang="ru-RU" smtClean="0"/>
              <a:pPr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19159508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5"/>
          <p:cNvSpPr/>
          <p:nvPr userDrawn="1"/>
        </p:nvSpPr>
        <p:spPr>
          <a:xfrm>
            <a:off x="-1" y="2601087"/>
            <a:ext cx="12192001" cy="1603772"/>
          </a:xfrm>
          <a:prstGeom prst="rect">
            <a:avLst/>
          </a:prstGeom>
          <a:solidFill>
            <a:srgbClr val="2F5CB5"/>
          </a:solidFill>
          <a:ln w="19050" cap="sq" cmpd="sng" algn="ctr">
            <a:solidFill>
              <a:srgbClr val="FF6600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3" name="Rectangle 6"/>
          <p:cNvSpPr/>
          <p:nvPr userDrawn="1"/>
        </p:nvSpPr>
        <p:spPr>
          <a:xfrm>
            <a:off x="0" y="2545985"/>
            <a:ext cx="12192000" cy="59883"/>
          </a:xfrm>
          <a:prstGeom prst="rect">
            <a:avLst/>
          </a:prstGeom>
          <a:solidFill>
            <a:srgbClr val="F7B217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4" name="Rectangle 9"/>
          <p:cNvSpPr/>
          <p:nvPr userDrawn="1"/>
        </p:nvSpPr>
        <p:spPr>
          <a:xfrm>
            <a:off x="0" y="4210574"/>
            <a:ext cx="12192000" cy="45719"/>
          </a:xfrm>
          <a:prstGeom prst="rect">
            <a:avLst/>
          </a:prstGeom>
          <a:solidFill>
            <a:srgbClr val="F7B217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6" name="Title 7"/>
          <p:cNvSpPr>
            <a:spLocks noGrp="1"/>
          </p:cNvSpPr>
          <p:nvPr>
            <p:ph type="ctrTitle"/>
          </p:nvPr>
        </p:nvSpPr>
        <p:spPr>
          <a:xfrm>
            <a:off x="0" y="2601227"/>
            <a:ext cx="12192000" cy="1840144"/>
          </a:xfrm>
        </p:spPr>
        <p:txBody>
          <a:bodyPr anchor="ctr"/>
          <a:lstStyle>
            <a:lvl1pPr algn="ctr">
              <a:defRPr lang="en-US" dirty="0">
                <a:solidFill>
                  <a:srgbClr val="FFFFFF"/>
                </a:solidFill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pic>
        <p:nvPicPr>
          <p:cNvPr id="9" name="Рисунок 8" descr="logo_с_hse_cmyk_e.pn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3934031" y="213770"/>
            <a:ext cx="1704213" cy="2196275"/>
          </a:xfrm>
          <a:prstGeom prst="rect">
            <a:avLst/>
          </a:prstGeom>
        </p:spPr>
      </p:pic>
      <p:pic>
        <p:nvPicPr>
          <p:cNvPr id="10" name="Рисунок 9" descr="Unknown.png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6045713" y="219880"/>
            <a:ext cx="2143125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32245516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/>
          <p:cNvSpPr/>
          <p:nvPr userDrawn="1"/>
        </p:nvSpPr>
        <p:spPr>
          <a:xfrm>
            <a:off x="838200" y="123553"/>
            <a:ext cx="10515600" cy="842818"/>
          </a:xfrm>
          <a:prstGeom prst="rect">
            <a:avLst/>
          </a:prstGeom>
          <a:solidFill>
            <a:srgbClr val="2F5CB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273272"/>
              </a:solidFill>
            </a:endParaRPr>
          </a:p>
        </p:txBody>
      </p:sp>
      <p:sp>
        <p:nvSpPr>
          <p:cNvPr id="21" name="Овал 20"/>
          <p:cNvSpPr/>
          <p:nvPr userDrawn="1"/>
        </p:nvSpPr>
        <p:spPr>
          <a:xfrm flipV="1">
            <a:off x="10775841" y="6190935"/>
            <a:ext cx="584617" cy="502173"/>
          </a:xfrm>
          <a:prstGeom prst="ellipse">
            <a:avLst/>
          </a:prstGeom>
          <a:solidFill>
            <a:srgbClr val="2F5CB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273272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178053"/>
            <a:ext cx="10515600" cy="4997896"/>
          </a:xfrm>
        </p:spPr>
        <p:txBody>
          <a:bodyPr/>
          <a:lstStyle>
            <a:lvl1pPr>
              <a:buFont typeface="Wingdings" pitchFamily="2" charset="2"/>
              <a:buChar char="§"/>
              <a:defRPr sz="3600">
                <a:solidFill>
                  <a:srgbClr val="273272"/>
                </a:solidFill>
              </a:defRPr>
            </a:lvl1pPr>
            <a:lvl2pPr>
              <a:buClr>
                <a:srgbClr val="F7B217"/>
              </a:buClr>
              <a:buFont typeface="Wingdings" pitchFamily="2" charset="2"/>
              <a:buChar char="§"/>
              <a:defRPr sz="3200">
                <a:solidFill>
                  <a:srgbClr val="273272"/>
                </a:solidFill>
              </a:defRPr>
            </a:lvl2pPr>
            <a:lvl3pPr>
              <a:buFont typeface="Wingdings" pitchFamily="2" charset="2"/>
              <a:buChar char="§"/>
              <a:defRPr sz="2400">
                <a:solidFill>
                  <a:srgbClr val="273272"/>
                </a:solidFill>
              </a:defRPr>
            </a:lvl3pPr>
            <a:lvl4pPr>
              <a:defRPr sz="2000">
                <a:solidFill>
                  <a:srgbClr val="273272"/>
                </a:solidFill>
              </a:defRPr>
            </a:lvl4pPr>
            <a:lvl5pPr>
              <a:defRPr sz="1800">
                <a:solidFill>
                  <a:srgbClr val="273272"/>
                </a:solidFill>
              </a:defRPr>
            </a:lvl5pPr>
          </a:lstStyle>
          <a:p>
            <a:pPr lvl="0"/>
            <a:r>
              <a:rPr lang="ru-RU" dirty="0" smtClean="0"/>
              <a:t>Образец текста</a:t>
            </a:r>
          </a:p>
          <a:p>
            <a:pPr lvl="1"/>
            <a:r>
              <a:rPr lang="ru-RU" dirty="0" smtClean="0"/>
              <a:t>Второй уровень</a:t>
            </a:r>
          </a:p>
          <a:p>
            <a:pPr lvl="2"/>
            <a:r>
              <a:rPr lang="ru-RU" dirty="0" smtClean="0"/>
              <a:t>Третий уровень</a:t>
            </a:r>
          </a:p>
          <a:p>
            <a:pPr lvl="3"/>
            <a:r>
              <a:rPr lang="ru-RU" dirty="0" smtClean="0"/>
              <a:t>Четвертый уровень</a:t>
            </a:r>
          </a:p>
          <a:p>
            <a:pPr lvl="4"/>
            <a:r>
              <a:rPr lang="ru-RU" dirty="0" smtClean="0"/>
              <a:t>Пятый уровень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10776031" y="6190938"/>
            <a:ext cx="594673" cy="479419"/>
          </a:xfrm>
        </p:spPr>
        <p:txBody>
          <a:bodyPr/>
          <a:lstStyle>
            <a:lvl1pPr>
              <a:defRPr sz="2000" b="1">
                <a:solidFill>
                  <a:srgbClr val="F7B217"/>
                </a:solidFill>
              </a:defRPr>
            </a:lvl1pPr>
          </a:lstStyle>
          <a:p>
            <a:pPr algn="ctr"/>
            <a:fld id="{1397BFD8-F312-4EF2-A268-44FB4BDDBBB0}" type="slidenum">
              <a:rPr lang="ru-RU" smtClean="0"/>
              <a:pPr algn="ctr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838200" y="107867"/>
            <a:ext cx="10515600" cy="840215"/>
          </a:xfrm>
          <a:noFill/>
          <a:effectLst/>
        </p:spPr>
        <p:txBody>
          <a:bodyPr lIns="72000" tIns="25200" rIns="0" bIns="25200"/>
          <a:lstStyle>
            <a:lvl1pPr algn="ctr">
              <a:lnSpc>
                <a:spcPct val="100000"/>
              </a:lnSpc>
              <a:defRPr sz="4800" b="1">
                <a:solidFill>
                  <a:srgbClr val="F7B217"/>
                </a:solidFill>
              </a:defRPr>
            </a:lvl1pPr>
          </a:lstStyle>
          <a:p>
            <a:r>
              <a:rPr lang="en-US" dirty="0" smtClean="0"/>
              <a:t>Slide Header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325695399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7BFD8-F312-4EF2-A268-44FB4BDDBBB0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306707684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7BFD8-F312-4EF2-A268-44FB4BDDBBB0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371001597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7BFD8-F312-4EF2-A268-44FB4BDDBBB0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407559096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7BFD8-F312-4EF2-A268-44FB4BDDBBB0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288960489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7BFD8-F312-4EF2-A268-44FB4BDDBBB0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15238476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7BFD8-F312-4EF2-A268-44FB4BDDBBB0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212779188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7BFD8-F312-4EF2-A268-44FB4BDDBBB0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175270513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7BFD8-F312-4EF2-A268-44FB4BDDBBB0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9711176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7BFD8-F312-4EF2-A268-44FB4BDDBBB0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3348877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97BFD8-F312-4EF2-A268-44FB4BDDBBB0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968833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wiki.cs.hse.ru/Computer_Architecture_and_Operating_Systems_DSBA_2025/2026" TargetMode="External"/><Relationship Id="rId7" Type="http://schemas.openxmlformats.org/officeDocument/2006/relationships/image" Target="../media/image3.png"/><Relationship Id="rId2" Type="http://schemas.openxmlformats.org/officeDocument/2006/relationships/hyperlink" Target="https://andrewt0301.github.io/hse-acos-course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t.me/+fMUlZaLRVyg4ZTc6" TargetMode="External"/><Relationship Id="rId5" Type="http://schemas.openxmlformats.org/officeDocument/2006/relationships/hyperlink" Target="https://t.me/+Dg8icpqPvABjMzUy" TargetMode="External"/><Relationship Id="rId4" Type="http://schemas.openxmlformats.org/officeDocument/2006/relationships/hyperlink" Target="http://wiki.cs.hse.ru/ACOS_COMPDS_2025/26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jpeg"/><Relationship Id="rId7" Type="http://schemas.openxmlformats.org/officeDocument/2006/relationships/image" Target="../media/image9.jpeg"/><Relationship Id="rId12" Type="http://schemas.openxmlformats.org/officeDocument/2006/relationships/image" Target="../media/image14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jpeg"/><Relationship Id="rId11" Type="http://schemas.openxmlformats.org/officeDocument/2006/relationships/image" Target="../media/image13.jpeg"/><Relationship Id="rId5" Type="http://schemas.openxmlformats.org/officeDocument/2006/relationships/image" Target="../media/image7.jpeg"/><Relationship Id="rId10" Type="http://schemas.openxmlformats.org/officeDocument/2006/relationships/image" Target="../media/image12.jpeg"/><Relationship Id="rId4" Type="http://schemas.openxmlformats.org/officeDocument/2006/relationships/image" Target="../media/image6.jpeg"/><Relationship Id="rId9" Type="http://schemas.openxmlformats.org/officeDocument/2006/relationships/image" Target="../media/image1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eg"/><Relationship Id="rId5" Type="http://schemas.openxmlformats.org/officeDocument/2006/relationships/image" Target="../media/image16.jpeg"/><Relationship Id="rId4" Type="http://schemas.openxmlformats.org/officeDocument/2006/relationships/image" Target="../media/image15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0" y="2600696"/>
            <a:ext cx="12192000" cy="1543791"/>
          </a:xfrm>
          <a:effectLst/>
        </p:spPr>
        <p:txBody>
          <a:bodyPr>
            <a:normAutofit/>
          </a:bodyPr>
          <a:lstStyle/>
          <a:p>
            <a:r>
              <a:rPr lang="en-US" b="1" dirty="0" smtClean="0">
                <a:solidFill>
                  <a:srgbClr val="F7B217"/>
                </a:solidFill>
              </a:rPr>
              <a:t>Computer Architecture </a:t>
            </a:r>
            <a:r>
              <a:rPr lang="en-US" b="1" dirty="0" smtClean="0"/>
              <a:t>and Operating Systems</a:t>
            </a:r>
            <a:br>
              <a:rPr lang="en-US" b="1" dirty="0" smtClean="0"/>
            </a:br>
            <a:r>
              <a:rPr lang="en-US" b="1" dirty="0" smtClean="0"/>
              <a:t>Lecture </a:t>
            </a:r>
            <a:r>
              <a:rPr lang="ru-RU" b="1" dirty="0" smtClean="0"/>
              <a:t>1</a:t>
            </a:r>
            <a:r>
              <a:rPr lang="en-US" b="1" smtClean="0"/>
              <a:t>: Introduction</a:t>
            </a:r>
            <a:endParaRPr lang="ru-RU" b="1" dirty="0"/>
          </a:p>
        </p:txBody>
      </p:sp>
      <p:sp>
        <p:nvSpPr>
          <p:cNvPr id="5" name="Subtitle 11"/>
          <p:cNvSpPr>
            <a:spLocks noGrp="1"/>
          </p:cNvSpPr>
          <p:nvPr>
            <p:ph type="subTitle" idx="4294967295"/>
          </p:nvPr>
        </p:nvSpPr>
        <p:spPr>
          <a:xfrm>
            <a:off x="0" y="4423118"/>
            <a:ext cx="12192000" cy="573664"/>
          </a:xfrm>
        </p:spPr>
        <p:txBody>
          <a:bodyPr>
            <a:noAutofit/>
          </a:bodyPr>
          <a:lstStyle/>
          <a:p>
            <a:pPr algn="ctr">
              <a:buNone/>
              <a:defRPr/>
            </a:pPr>
            <a:r>
              <a:rPr lang="en-US" sz="4800" b="1" dirty="0" smtClean="0"/>
              <a:t>Andrei Tatarnikov</a:t>
            </a:r>
            <a:endParaRPr lang="en-US" sz="4800" b="1" dirty="0"/>
          </a:p>
        </p:txBody>
      </p:sp>
      <p:sp>
        <p:nvSpPr>
          <p:cNvPr id="14" name="TextBox 13"/>
          <p:cNvSpPr txBox="1"/>
          <p:nvPr/>
        </p:nvSpPr>
        <p:spPr>
          <a:xfrm>
            <a:off x="-47500" y="5305305"/>
            <a:ext cx="122395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2800" b="1" u="sng" dirty="0" smtClean="0">
                <a:solidFill>
                  <a:srgbClr val="0070C0"/>
                </a:solidFill>
                <a:latin typeface="+mj-lt"/>
                <a:cs typeface="Calibri" pitchFamily="34" charset="0"/>
              </a:rPr>
              <a:t>andrewt0301@gmail.com </a:t>
            </a:r>
          </a:p>
          <a:p>
            <a:pPr algn="ctr">
              <a:defRPr/>
            </a:pPr>
            <a:r>
              <a:rPr lang="en-US" sz="2800" b="1" u="sng" dirty="0" smtClean="0">
                <a:solidFill>
                  <a:srgbClr val="0070C0"/>
                </a:solidFill>
                <a:latin typeface="+mj-lt"/>
                <a:cs typeface="Calibri" pitchFamily="34" charset="0"/>
              </a:rPr>
              <a:t>@andrewt0301</a:t>
            </a:r>
            <a:endParaRPr lang="en-US" sz="2800" b="1" u="sng" dirty="0">
              <a:solidFill>
                <a:srgbClr val="0070C0"/>
              </a:solidFill>
              <a:latin typeface="+mj-lt"/>
              <a:cs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492894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одержимое 1"/>
          <p:cNvSpPr>
            <a:spLocks noGrp="1"/>
          </p:cNvSpPr>
          <p:nvPr>
            <p:ph idx="1"/>
          </p:nvPr>
        </p:nvSpPr>
        <p:spPr>
          <a:xfrm>
            <a:off x="838200" y="2986684"/>
            <a:ext cx="10515600" cy="3544745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4200" b="1" dirty="0" smtClean="0"/>
              <a:t>Website</a:t>
            </a:r>
            <a:endParaRPr lang="ru-RU" sz="4200" b="1" dirty="0"/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800" dirty="0">
                <a:hlinkClick r:id="rId2"/>
              </a:rPr>
              <a:t>https://andrewt0301.github.io/hse-acos-course/</a:t>
            </a:r>
            <a:endParaRPr lang="en-US" sz="2800" dirty="0"/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4200" b="1" dirty="0" smtClean="0"/>
              <a:t>Wiki</a:t>
            </a:r>
            <a:endParaRPr lang="en-US" sz="4200" b="1" dirty="0">
              <a:hlinkClick r:id="rId2"/>
            </a:endParaRP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800" dirty="0" smtClean="0">
                <a:hlinkClick r:id="rId3"/>
              </a:rPr>
              <a:t>http://</a:t>
            </a:r>
            <a:r>
              <a:rPr lang="en-US" sz="2800" dirty="0" smtClean="0">
                <a:hlinkClick r:id="rId3"/>
              </a:rPr>
              <a:t>wiki.cs.hse.ru/Computer_Architecture_and_Operating_Systems_DSBA_2025/2026</a:t>
            </a:r>
            <a:endParaRPr lang="en-US" sz="2800" dirty="0" smtClean="0"/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800" dirty="0" smtClean="0">
                <a:hlinkClick r:id="rId4"/>
              </a:rPr>
              <a:t>http://</a:t>
            </a:r>
            <a:r>
              <a:rPr lang="en-US" sz="2800" dirty="0" smtClean="0">
                <a:hlinkClick r:id="rId4"/>
              </a:rPr>
              <a:t>wiki.cs.hse.ru/ACOS_COMPDS_2025/26</a:t>
            </a:r>
            <a:endParaRPr lang="en-US" sz="2800" dirty="0" smtClean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4200" b="1" dirty="0" smtClean="0"/>
              <a:t>Telegram</a:t>
            </a:r>
            <a:endParaRPr lang="en-US" sz="4200" b="1" dirty="0" smtClean="0"/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800" dirty="0" smtClean="0">
                <a:hlinkClick r:id="rId5"/>
              </a:rPr>
              <a:t>https://t.me/+</a:t>
            </a:r>
            <a:r>
              <a:rPr lang="en-US" sz="2800" dirty="0" smtClean="0">
                <a:hlinkClick r:id="rId5"/>
              </a:rPr>
              <a:t>Dg8icpqPvABjMzUy</a:t>
            </a:r>
            <a:r>
              <a:rPr lang="en-US" sz="2800" dirty="0" smtClean="0"/>
              <a:t> </a:t>
            </a:r>
            <a:r>
              <a:rPr lang="en-US" sz="2800" dirty="0" smtClean="0"/>
              <a:t>(</a:t>
            </a:r>
            <a:r>
              <a:rPr lang="en-US" sz="2800" dirty="0" smtClean="0"/>
              <a:t>DSBA)</a:t>
            </a:r>
          </a:p>
          <a:p>
            <a:pPr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800" dirty="0" smtClean="0">
                <a:hlinkClick r:id="rId6"/>
              </a:rPr>
              <a:t>https://t.me</a:t>
            </a:r>
            <a:r>
              <a:rPr lang="en-US" sz="2800" smtClean="0">
                <a:hlinkClick r:id="rId6"/>
              </a:rPr>
              <a:t>/+</a:t>
            </a:r>
            <a:r>
              <a:rPr lang="en-US" sz="2800" smtClean="0">
                <a:hlinkClick r:id="rId6"/>
              </a:rPr>
              <a:t>fMUlZaLRVyg4ZTc6</a:t>
            </a:r>
            <a:r>
              <a:rPr lang="en-US" sz="2800" smtClean="0"/>
              <a:t> (</a:t>
            </a:r>
            <a:r>
              <a:rPr lang="en-US" sz="2800" dirty="0" smtClean="0"/>
              <a:t>COMPDS</a:t>
            </a:r>
            <a:r>
              <a:rPr lang="en-US" sz="2800" dirty="0" smtClean="0"/>
              <a:t>)</a:t>
            </a:r>
            <a:endParaRPr lang="en-US" sz="2800" dirty="0"/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1397BFD8-F312-4EF2-A268-44FB4BDDBBB0}" type="slidenum">
              <a:rPr lang="ru-RU" smtClean="0"/>
              <a:pPr algn="ctr"/>
              <a:t>2</a:t>
            </a:fld>
            <a:endParaRPr lang="ru-RU" dirty="0"/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Resources</a:t>
            </a:r>
            <a:endParaRPr lang="ru-RU" dirty="0"/>
          </a:p>
        </p:txBody>
      </p:sp>
      <p:pic>
        <p:nvPicPr>
          <p:cNvPr id="6" name="Рисунок 5" descr="hifive-unleashed-logo.png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3433762" y="1050801"/>
            <a:ext cx="5324475" cy="203968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450360" y="3279410"/>
            <a:ext cx="2422568" cy="629392"/>
          </a:xfrm>
          <a:prstGeom prst="rect">
            <a:avLst/>
          </a:prstGeom>
          <a:solidFill>
            <a:schemeClr val="bg1"/>
          </a:solidFill>
        </p:spPr>
        <p:txBody>
          <a:bodyPr wrap="square" lIns="72000" tIns="25200" rIns="0" bIns="25200" rtlCol="0" anchor="ctr" anchorCtr="0">
            <a:noAutofit/>
          </a:bodyPr>
          <a:lstStyle/>
          <a:p>
            <a:pPr algn="ctr"/>
            <a:r>
              <a:rPr lang="en-US" sz="2300" b="1" dirty="0" smtClean="0">
                <a:solidFill>
                  <a:srgbClr val="1E3272"/>
                </a:solidFill>
              </a:rPr>
              <a:t>Andrei Tatarnikov</a:t>
            </a:r>
            <a:endParaRPr lang="ru-RU" sz="2300" b="1" dirty="0" smtClean="0">
              <a:solidFill>
                <a:srgbClr val="1E3272"/>
              </a:solidFill>
            </a:endParaRPr>
          </a:p>
        </p:txBody>
      </p:sp>
      <p:sp>
        <p:nvSpPr>
          <p:cNvPr id="2" name="Содержимое 1"/>
          <p:cNvSpPr>
            <a:spLocks noGrp="1"/>
          </p:cNvSpPr>
          <p:nvPr>
            <p:ph idx="1"/>
          </p:nvPr>
        </p:nvSpPr>
        <p:spPr>
          <a:xfrm>
            <a:off x="873826" y="3702924"/>
            <a:ext cx="10515600" cy="560155"/>
          </a:xfrm>
        </p:spPr>
        <p:txBody>
          <a:bodyPr>
            <a:normAutofit/>
          </a:bodyPr>
          <a:lstStyle/>
          <a:p>
            <a:pPr algn="ctr">
              <a:buNone/>
            </a:pPr>
            <a:r>
              <a:rPr lang="en-US" sz="3200" b="1" dirty="0" smtClean="0"/>
              <a:t>Assistants</a:t>
            </a:r>
          </a:p>
          <a:p>
            <a:pPr>
              <a:buNone/>
            </a:pPr>
            <a:endParaRPr lang="en-US" sz="3200" dirty="0" smtClean="0"/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0795081" y="6209988"/>
            <a:ext cx="594673" cy="479419"/>
          </a:xfrm>
        </p:spPr>
        <p:txBody>
          <a:bodyPr/>
          <a:lstStyle/>
          <a:p>
            <a:pPr algn="ctr"/>
            <a:fld id="{1397BFD8-F312-4EF2-A268-44FB4BDDBBB0}" type="slidenum">
              <a:rPr lang="ru-RU" smtClean="0"/>
              <a:pPr algn="ctr"/>
              <a:t>3</a:t>
            </a:fld>
            <a:endParaRPr lang="ru-RU" dirty="0"/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DSBA Course Team</a:t>
            </a:r>
            <a:endParaRPr lang="ru-RU" dirty="0"/>
          </a:p>
        </p:txBody>
      </p:sp>
      <p:pic>
        <p:nvPicPr>
          <p:cNvPr id="6" name="Рисунок 5" descr="3727740.jpg"/>
          <p:cNvPicPr>
            <a:picLocks noChangeAspect="1"/>
          </p:cNvPicPr>
          <p:nvPr/>
        </p:nvPicPr>
        <p:blipFill>
          <a:blip r:embed="rId2" cstate="print"/>
          <a:srcRect l="4108" t="6573" r="7395" b="3287"/>
          <a:stretch>
            <a:fillRect/>
          </a:stretch>
        </p:blipFill>
        <p:spPr>
          <a:xfrm>
            <a:off x="774017" y="1438013"/>
            <a:ext cx="1938748" cy="1974742"/>
          </a:xfrm>
          <a:prstGeom prst="rect">
            <a:avLst/>
          </a:prstGeom>
        </p:spPr>
      </p:pic>
      <p:sp>
        <p:nvSpPr>
          <p:cNvPr id="7" name="Содержимое 1"/>
          <p:cNvSpPr txBox="1">
            <a:spLocks/>
          </p:cNvSpPr>
          <p:nvPr/>
        </p:nvSpPr>
        <p:spPr>
          <a:xfrm>
            <a:off x="848100" y="925748"/>
            <a:ext cx="10515600" cy="7002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7327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Instructors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79095" y="3262859"/>
            <a:ext cx="2600797" cy="629392"/>
          </a:xfrm>
          <a:prstGeom prst="rect">
            <a:avLst/>
          </a:prstGeom>
          <a:noFill/>
        </p:spPr>
        <p:txBody>
          <a:bodyPr wrap="square" lIns="72000" tIns="25200" rIns="0" bIns="25200" rtlCol="0" anchor="ctr" anchorCtr="0">
            <a:noAutofit/>
          </a:bodyPr>
          <a:lstStyle/>
          <a:p>
            <a:pPr algn="ctr"/>
            <a:r>
              <a:rPr lang="en-US" sz="2300" b="1" dirty="0" smtClean="0">
                <a:solidFill>
                  <a:srgbClr val="1E3272"/>
                </a:solidFill>
              </a:rPr>
              <a:t>Roman </a:t>
            </a:r>
            <a:r>
              <a:rPr lang="en-US" sz="2300" b="1" dirty="0" err="1" smtClean="0">
                <a:solidFill>
                  <a:srgbClr val="1E3272"/>
                </a:solidFill>
              </a:rPr>
              <a:t>Stolyarov</a:t>
            </a:r>
            <a:endParaRPr lang="ru-RU" sz="2300" b="1" dirty="0" smtClean="0">
              <a:solidFill>
                <a:srgbClr val="1E3272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936999" y="5919506"/>
            <a:ext cx="2257640" cy="408521"/>
          </a:xfrm>
          <a:prstGeom prst="rect">
            <a:avLst/>
          </a:prstGeom>
          <a:noFill/>
        </p:spPr>
        <p:txBody>
          <a:bodyPr wrap="square" lIns="72000" tIns="25200" rIns="0" bIns="25200" rtlCol="0" anchor="ctr" anchorCtr="0">
            <a:noAutofit/>
          </a:bodyPr>
          <a:lstStyle/>
          <a:p>
            <a:pPr algn="ctr"/>
            <a:r>
              <a:rPr lang="en-US" sz="2000" b="1" dirty="0" smtClean="0">
                <a:solidFill>
                  <a:srgbClr val="1E3272"/>
                </a:solidFill>
              </a:rPr>
              <a:t>Michael </a:t>
            </a:r>
            <a:r>
              <a:rPr lang="en-US" sz="2000" b="1" dirty="0" err="1" smtClean="0">
                <a:solidFill>
                  <a:srgbClr val="1E3272"/>
                </a:solidFill>
              </a:rPr>
              <a:t>Logvinchuk</a:t>
            </a:r>
            <a:endParaRPr lang="ru-RU" sz="2000" b="1" dirty="0" smtClean="0">
              <a:solidFill>
                <a:srgbClr val="1E3272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45253" y="5855745"/>
            <a:ext cx="1928227" cy="408521"/>
          </a:xfrm>
          <a:prstGeom prst="rect">
            <a:avLst/>
          </a:prstGeom>
          <a:noFill/>
        </p:spPr>
        <p:txBody>
          <a:bodyPr wrap="square" lIns="72000" tIns="25200" rIns="0" bIns="25200" rtlCol="0" anchor="ctr" anchorCtr="0">
            <a:noAutofit/>
          </a:bodyPr>
          <a:lstStyle/>
          <a:p>
            <a:pPr algn="ctr"/>
            <a:r>
              <a:rPr lang="en-US" sz="2000" b="1" dirty="0" smtClean="0">
                <a:solidFill>
                  <a:srgbClr val="1E3272"/>
                </a:solidFill>
              </a:rPr>
              <a:t>Ivan </a:t>
            </a:r>
            <a:r>
              <a:rPr lang="en-US" sz="2000" b="1" dirty="0" err="1" smtClean="0">
                <a:solidFill>
                  <a:srgbClr val="1E3272"/>
                </a:solidFill>
              </a:rPr>
              <a:t>Mashkarin</a:t>
            </a:r>
            <a:endParaRPr lang="ru-RU" sz="2000" b="1" dirty="0" smtClean="0">
              <a:solidFill>
                <a:srgbClr val="1E3272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779523" y="3251278"/>
            <a:ext cx="2600797" cy="629392"/>
          </a:xfrm>
          <a:prstGeom prst="rect">
            <a:avLst/>
          </a:prstGeom>
          <a:noFill/>
        </p:spPr>
        <p:txBody>
          <a:bodyPr wrap="square" lIns="72000" tIns="25200" rIns="0" bIns="25200" rtlCol="0" anchor="ctr" anchorCtr="0">
            <a:noAutofit/>
          </a:bodyPr>
          <a:lstStyle/>
          <a:p>
            <a:pPr algn="ctr"/>
            <a:r>
              <a:rPr lang="en-US" sz="2300" b="1" dirty="0" smtClean="0">
                <a:solidFill>
                  <a:srgbClr val="1E3272"/>
                </a:solidFill>
              </a:rPr>
              <a:t>David </a:t>
            </a:r>
            <a:r>
              <a:rPr lang="en-US" sz="2300" b="1" dirty="0" err="1" smtClean="0">
                <a:solidFill>
                  <a:srgbClr val="1E3272"/>
                </a:solidFill>
              </a:rPr>
              <a:t>Badalyan</a:t>
            </a:r>
            <a:endParaRPr lang="ru-RU" sz="2300" b="1" dirty="0" smtClean="0">
              <a:solidFill>
                <a:srgbClr val="1E3272"/>
              </a:solidFill>
            </a:endParaRPr>
          </a:p>
        </p:txBody>
      </p:sp>
      <p:pic>
        <p:nvPicPr>
          <p:cNvPr id="36" name="Рисунок 35" descr="photo_2024-01-07_10-23-29.jpg"/>
          <p:cNvPicPr>
            <a:picLocks noChangeAspect="1"/>
          </p:cNvPicPr>
          <p:nvPr/>
        </p:nvPicPr>
        <p:blipFill>
          <a:blip r:embed="rId3" cstate="print"/>
          <a:srcRect l="31004" t="28789" r="20965" b="37869"/>
          <a:stretch>
            <a:fillRect/>
          </a:stretch>
        </p:blipFill>
        <p:spPr>
          <a:xfrm>
            <a:off x="4933602" y="1436574"/>
            <a:ext cx="2108138" cy="1951227"/>
          </a:xfrm>
          <a:prstGeom prst="rect">
            <a:avLst/>
          </a:prstGeom>
        </p:spPr>
      </p:pic>
      <p:pic>
        <p:nvPicPr>
          <p:cNvPr id="30" name="Рисунок 29" descr="photo_2025-01-12_22-43-04.jpg"/>
          <p:cNvPicPr>
            <a:picLocks noChangeAspect="1"/>
          </p:cNvPicPr>
          <p:nvPr/>
        </p:nvPicPr>
        <p:blipFill>
          <a:blip r:embed="rId4" cstate="print"/>
          <a:srcRect l="4477" t="22441" r="12151" b="37795"/>
          <a:stretch>
            <a:fillRect/>
          </a:stretch>
        </p:blipFill>
        <p:spPr>
          <a:xfrm>
            <a:off x="7200350" y="1418221"/>
            <a:ext cx="1877296" cy="193921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657025" y="3343586"/>
            <a:ext cx="2380341" cy="490922"/>
          </a:xfrm>
          <a:prstGeom prst="rect">
            <a:avLst/>
          </a:prstGeom>
          <a:noFill/>
        </p:spPr>
        <p:txBody>
          <a:bodyPr wrap="square" lIns="72000" tIns="25200" rIns="0" bIns="25200" rtlCol="0" anchor="ctr" anchorCtr="0">
            <a:noAutofit/>
          </a:bodyPr>
          <a:lstStyle/>
          <a:p>
            <a:pPr algn="ctr"/>
            <a:r>
              <a:rPr lang="en-US" sz="2300" b="1" dirty="0" err="1" smtClean="0">
                <a:solidFill>
                  <a:srgbClr val="1E3272"/>
                </a:solidFill>
              </a:rPr>
              <a:t>Fedor</a:t>
            </a:r>
            <a:r>
              <a:rPr lang="en-US" sz="2300" b="1" dirty="0" smtClean="0">
                <a:solidFill>
                  <a:srgbClr val="1E3272"/>
                </a:solidFill>
              </a:rPr>
              <a:t> </a:t>
            </a:r>
            <a:r>
              <a:rPr lang="en-US" sz="2300" b="1" dirty="0" err="1" smtClean="0">
                <a:solidFill>
                  <a:srgbClr val="1E3272"/>
                </a:solidFill>
              </a:rPr>
              <a:t>Pakhurov</a:t>
            </a:r>
            <a:endParaRPr lang="ru-RU" sz="2300" b="1" dirty="0" smtClean="0">
              <a:solidFill>
                <a:srgbClr val="1E3272"/>
              </a:solidFill>
            </a:endParaRPr>
          </a:p>
        </p:txBody>
      </p:sp>
      <p:pic>
        <p:nvPicPr>
          <p:cNvPr id="22" name="Рисунок 21" descr="IMG_6901.jpg"/>
          <p:cNvPicPr>
            <a:picLocks noChangeAspect="1"/>
          </p:cNvPicPr>
          <p:nvPr/>
        </p:nvPicPr>
        <p:blipFill>
          <a:blip r:embed="rId5" cstate="print"/>
          <a:srcRect l="4076" t="15303" r="4076" b="6121"/>
          <a:stretch>
            <a:fillRect/>
          </a:stretch>
        </p:blipFill>
        <p:spPr>
          <a:xfrm>
            <a:off x="2969697" y="1434675"/>
            <a:ext cx="1719801" cy="195941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84548" y="3260803"/>
            <a:ext cx="2600797" cy="629392"/>
          </a:xfrm>
          <a:prstGeom prst="rect">
            <a:avLst/>
          </a:prstGeom>
          <a:noFill/>
        </p:spPr>
        <p:txBody>
          <a:bodyPr wrap="square" lIns="72000" tIns="25200" rIns="0" bIns="25200" rtlCol="0" anchor="ctr" anchorCtr="0">
            <a:noAutofit/>
          </a:bodyPr>
          <a:lstStyle/>
          <a:p>
            <a:pPr algn="ctr"/>
            <a:r>
              <a:rPr lang="en-US" sz="2300" b="1" dirty="0" smtClean="0">
                <a:solidFill>
                  <a:srgbClr val="1E3272"/>
                </a:solidFill>
              </a:rPr>
              <a:t> </a:t>
            </a:r>
            <a:r>
              <a:rPr lang="en-US" sz="2300" b="1" dirty="0" err="1" smtClean="0">
                <a:solidFill>
                  <a:srgbClr val="1E3272"/>
                </a:solidFill>
              </a:rPr>
              <a:t>Gleb</a:t>
            </a:r>
            <a:r>
              <a:rPr lang="en-US" sz="2300" b="1" dirty="0" smtClean="0">
                <a:solidFill>
                  <a:srgbClr val="1E3272"/>
                </a:solidFill>
              </a:rPr>
              <a:t> </a:t>
            </a:r>
            <a:r>
              <a:rPr lang="en-US" sz="2300" b="1" dirty="0" err="1" smtClean="0">
                <a:solidFill>
                  <a:srgbClr val="1E3272"/>
                </a:solidFill>
              </a:rPr>
              <a:t>Stepanov</a:t>
            </a:r>
            <a:endParaRPr lang="ru-RU" sz="2300" b="1" dirty="0" smtClean="0">
              <a:solidFill>
                <a:srgbClr val="1E3272"/>
              </a:solidFill>
            </a:endParaRPr>
          </a:p>
        </p:txBody>
      </p:sp>
      <p:pic>
        <p:nvPicPr>
          <p:cNvPr id="24" name="Рисунок 23" descr="DSC03396~2.jpg"/>
          <p:cNvPicPr>
            <a:picLocks noChangeAspect="1"/>
          </p:cNvPicPr>
          <p:nvPr/>
        </p:nvPicPr>
        <p:blipFill>
          <a:blip r:embed="rId6" cstate="print"/>
          <a:srcRect l="13522" r="11873" b="47955"/>
          <a:stretch>
            <a:fillRect/>
          </a:stretch>
        </p:blipFill>
        <p:spPr>
          <a:xfrm>
            <a:off x="9281736" y="1428759"/>
            <a:ext cx="2035849" cy="1894923"/>
          </a:xfrm>
          <a:prstGeom prst="rect">
            <a:avLst/>
          </a:prstGeom>
        </p:spPr>
      </p:pic>
      <p:pic>
        <p:nvPicPr>
          <p:cNvPr id="27" name="Рисунок 26" descr="photo_2026-01-12_19-51-29.jpg"/>
          <p:cNvPicPr>
            <a:picLocks noChangeAspect="1"/>
          </p:cNvPicPr>
          <p:nvPr/>
        </p:nvPicPr>
        <p:blipFill>
          <a:blip r:embed="rId7" cstate="print"/>
          <a:srcRect b="8858"/>
          <a:stretch>
            <a:fillRect/>
          </a:stretch>
        </p:blipFill>
        <p:spPr>
          <a:xfrm>
            <a:off x="457200" y="4076707"/>
            <a:ext cx="1463040" cy="1777925"/>
          </a:xfrm>
          <a:prstGeom prst="rect">
            <a:avLst/>
          </a:prstGeom>
        </p:spPr>
      </p:pic>
      <p:pic>
        <p:nvPicPr>
          <p:cNvPr id="35" name="Рисунок 34" descr="photo_2026-01-12_19-59-15.jpg"/>
          <p:cNvPicPr>
            <a:picLocks noChangeAspect="1"/>
          </p:cNvPicPr>
          <p:nvPr/>
        </p:nvPicPr>
        <p:blipFill>
          <a:blip r:embed="rId8" cstate="print"/>
          <a:srcRect l="4864" t="16609" r="15036" b="38533"/>
          <a:stretch>
            <a:fillRect/>
          </a:stretch>
        </p:blipFill>
        <p:spPr>
          <a:xfrm>
            <a:off x="2258120" y="4206136"/>
            <a:ext cx="1564951" cy="1750108"/>
          </a:xfrm>
          <a:prstGeom prst="rect">
            <a:avLst/>
          </a:prstGeom>
        </p:spPr>
      </p:pic>
      <p:pic>
        <p:nvPicPr>
          <p:cNvPr id="37" name="Рисунок 36" descr="photo_2026-01-12_20-04-05.jpg"/>
          <p:cNvPicPr>
            <a:picLocks noChangeAspect="1"/>
          </p:cNvPicPr>
          <p:nvPr/>
        </p:nvPicPr>
        <p:blipFill>
          <a:blip r:embed="rId9" cstate="print"/>
          <a:srcRect t="23031" r="18917" b="2657"/>
          <a:stretch>
            <a:fillRect/>
          </a:stretch>
        </p:blipFill>
        <p:spPr>
          <a:xfrm>
            <a:off x="4269893" y="4398926"/>
            <a:ext cx="1407236" cy="1721405"/>
          </a:xfrm>
          <a:prstGeom prst="rect">
            <a:avLst/>
          </a:prstGeom>
        </p:spPr>
      </p:pic>
      <p:pic>
        <p:nvPicPr>
          <p:cNvPr id="38" name="Рисунок 37" descr="photo_2026-01-12_20-04-50.jpg"/>
          <p:cNvPicPr>
            <a:picLocks noChangeAspect="1"/>
          </p:cNvPicPr>
          <p:nvPr/>
        </p:nvPicPr>
        <p:blipFill>
          <a:blip r:embed="rId10" cstate="print"/>
          <a:srcRect l="9744" r="6201"/>
          <a:stretch>
            <a:fillRect/>
          </a:stretch>
        </p:blipFill>
        <p:spPr>
          <a:xfrm>
            <a:off x="5844876" y="4200544"/>
            <a:ext cx="1742158" cy="1734217"/>
          </a:xfrm>
          <a:prstGeom prst="rect">
            <a:avLst/>
          </a:prstGeom>
        </p:spPr>
      </p:pic>
      <p:pic>
        <p:nvPicPr>
          <p:cNvPr id="39" name="Рисунок 38" descr="photo_2026-01-12_20-05-10.jpg"/>
          <p:cNvPicPr>
            <a:picLocks noChangeAspect="1"/>
          </p:cNvPicPr>
          <p:nvPr/>
        </p:nvPicPr>
        <p:blipFill>
          <a:blip r:embed="rId11" cstate="print"/>
          <a:srcRect t="10630" r="57579" b="38976"/>
          <a:stretch>
            <a:fillRect/>
          </a:stretch>
        </p:blipFill>
        <p:spPr>
          <a:xfrm>
            <a:off x="7896229" y="4171368"/>
            <a:ext cx="1551590" cy="1843211"/>
          </a:xfrm>
          <a:prstGeom prst="rect">
            <a:avLst/>
          </a:prstGeom>
        </p:spPr>
      </p:pic>
      <p:pic>
        <p:nvPicPr>
          <p:cNvPr id="40" name="Рисунок 39" descr="photo_2026-01-12_20-13-01.jpg"/>
          <p:cNvPicPr>
            <a:picLocks noChangeAspect="1"/>
          </p:cNvPicPr>
          <p:nvPr/>
        </p:nvPicPr>
        <p:blipFill>
          <a:blip r:embed="rId12" cstate="print"/>
          <a:srcRect l="29232" t="8858" r="35433" b="54921"/>
          <a:stretch>
            <a:fillRect/>
          </a:stretch>
        </p:blipFill>
        <p:spPr>
          <a:xfrm>
            <a:off x="9661370" y="4046133"/>
            <a:ext cx="1809378" cy="185474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537449" y="6014756"/>
            <a:ext cx="2257640" cy="408521"/>
          </a:xfrm>
          <a:prstGeom prst="rect">
            <a:avLst/>
          </a:prstGeom>
          <a:noFill/>
        </p:spPr>
        <p:txBody>
          <a:bodyPr wrap="square" lIns="72000" tIns="25200" rIns="0" bIns="25200" rtlCol="0" anchor="ctr" anchorCtr="0">
            <a:noAutofit/>
          </a:bodyPr>
          <a:lstStyle/>
          <a:p>
            <a:pPr algn="ctr"/>
            <a:r>
              <a:rPr lang="en-US" sz="2000" b="1" dirty="0" smtClean="0">
                <a:solidFill>
                  <a:srgbClr val="1E3272"/>
                </a:solidFill>
              </a:rPr>
              <a:t>Irina </a:t>
            </a:r>
            <a:r>
              <a:rPr lang="en-US" sz="2000" b="1" dirty="0" err="1" smtClean="0">
                <a:solidFill>
                  <a:srgbClr val="1E3272"/>
                </a:solidFill>
              </a:rPr>
              <a:t>Milova</a:t>
            </a:r>
            <a:endParaRPr lang="ru-RU" sz="2000" b="1" dirty="0" smtClean="0">
              <a:solidFill>
                <a:srgbClr val="1E3272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499599" y="6024281"/>
            <a:ext cx="2257640" cy="408521"/>
          </a:xfrm>
          <a:prstGeom prst="rect">
            <a:avLst/>
          </a:prstGeom>
          <a:noFill/>
        </p:spPr>
        <p:txBody>
          <a:bodyPr wrap="square" lIns="72000" tIns="25200" rIns="0" bIns="25200" rtlCol="0" anchor="ctr" anchorCtr="0">
            <a:noAutofit/>
          </a:bodyPr>
          <a:lstStyle/>
          <a:p>
            <a:pPr algn="ctr"/>
            <a:r>
              <a:rPr lang="en-US" sz="2000" b="1" dirty="0" smtClean="0">
                <a:solidFill>
                  <a:srgbClr val="1E3272"/>
                </a:solidFill>
              </a:rPr>
              <a:t>Jamal </a:t>
            </a:r>
            <a:r>
              <a:rPr lang="en-US" sz="2000" b="1" dirty="0" err="1" smtClean="0">
                <a:solidFill>
                  <a:srgbClr val="1E3272"/>
                </a:solidFill>
              </a:rPr>
              <a:t>Verdiyev</a:t>
            </a:r>
            <a:endParaRPr lang="ru-RU" sz="2000" b="1" dirty="0" smtClean="0">
              <a:solidFill>
                <a:srgbClr val="1E3272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9423649" y="5862356"/>
            <a:ext cx="2257640" cy="408521"/>
          </a:xfrm>
          <a:prstGeom prst="rect">
            <a:avLst/>
          </a:prstGeom>
          <a:noFill/>
        </p:spPr>
        <p:txBody>
          <a:bodyPr wrap="square" lIns="72000" tIns="25200" rIns="0" bIns="25200" rtlCol="0" anchor="ctr" anchorCtr="0">
            <a:noAutofit/>
          </a:bodyPr>
          <a:lstStyle/>
          <a:p>
            <a:pPr algn="ctr"/>
            <a:r>
              <a:rPr lang="en-US" sz="2000" b="1" dirty="0" smtClean="0">
                <a:solidFill>
                  <a:srgbClr val="1E3272"/>
                </a:solidFill>
              </a:rPr>
              <a:t>Michael </a:t>
            </a:r>
            <a:r>
              <a:rPr lang="en-US" sz="2000" b="1" dirty="0" err="1" smtClean="0">
                <a:solidFill>
                  <a:srgbClr val="1E3272"/>
                </a:solidFill>
              </a:rPr>
              <a:t>Korchagin</a:t>
            </a:r>
            <a:endParaRPr lang="ru-RU" sz="2000" b="1" dirty="0" smtClean="0">
              <a:solidFill>
                <a:srgbClr val="1E3272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727699" y="6271931"/>
            <a:ext cx="2663576" cy="408521"/>
          </a:xfrm>
          <a:prstGeom prst="rect">
            <a:avLst/>
          </a:prstGeom>
          <a:noFill/>
        </p:spPr>
        <p:txBody>
          <a:bodyPr wrap="square" lIns="72000" tIns="25200" rIns="0" bIns="25200" rtlCol="0" anchor="ctr" anchorCtr="0">
            <a:noAutofit/>
          </a:bodyPr>
          <a:lstStyle/>
          <a:p>
            <a:pPr algn="ctr"/>
            <a:r>
              <a:rPr lang="en-US" sz="2000" b="1" dirty="0" smtClean="0">
                <a:solidFill>
                  <a:srgbClr val="1E3272"/>
                </a:solidFill>
              </a:rPr>
              <a:t>Alexander </a:t>
            </a:r>
            <a:r>
              <a:rPr lang="en-US" sz="2000" b="1" dirty="0" err="1" smtClean="0">
                <a:solidFill>
                  <a:srgbClr val="1E3272"/>
                </a:solidFill>
              </a:rPr>
              <a:t>Pokrovsky</a:t>
            </a:r>
            <a:endParaRPr lang="ru-RU" sz="2000" b="1" dirty="0" smtClean="0">
              <a:solidFill>
                <a:srgbClr val="1E3272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1914951" y="3192326"/>
            <a:ext cx="2422568" cy="629392"/>
          </a:xfrm>
          <a:prstGeom prst="rect">
            <a:avLst/>
          </a:prstGeom>
          <a:solidFill>
            <a:schemeClr val="bg1"/>
          </a:solidFill>
        </p:spPr>
        <p:txBody>
          <a:bodyPr wrap="square" lIns="72000" tIns="25200" rIns="0" bIns="25200" rtlCol="0" anchor="ctr" anchorCtr="0">
            <a:noAutofit/>
          </a:bodyPr>
          <a:lstStyle/>
          <a:p>
            <a:pPr algn="ctr"/>
            <a:r>
              <a:rPr lang="en-US" sz="2300" b="1" dirty="0" smtClean="0">
                <a:solidFill>
                  <a:srgbClr val="1E3272"/>
                </a:solidFill>
              </a:rPr>
              <a:t>Andrei Tatarnikov</a:t>
            </a:r>
            <a:endParaRPr lang="ru-RU" sz="2300" b="1" dirty="0" smtClean="0">
              <a:solidFill>
                <a:srgbClr val="1E3272"/>
              </a:solidFill>
            </a:endParaRPr>
          </a:p>
        </p:txBody>
      </p:sp>
      <p:sp>
        <p:nvSpPr>
          <p:cNvPr id="2" name="Содержимое 1"/>
          <p:cNvSpPr>
            <a:spLocks noGrp="1"/>
          </p:cNvSpPr>
          <p:nvPr>
            <p:ph idx="1"/>
          </p:nvPr>
        </p:nvSpPr>
        <p:spPr>
          <a:xfrm>
            <a:off x="873826" y="3716985"/>
            <a:ext cx="10515600" cy="560155"/>
          </a:xfrm>
        </p:spPr>
        <p:txBody>
          <a:bodyPr>
            <a:normAutofit/>
          </a:bodyPr>
          <a:lstStyle/>
          <a:p>
            <a:pPr algn="ctr">
              <a:buNone/>
            </a:pPr>
            <a:r>
              <a:rPr lang="en-US" sz="3200" b="1" dirty="0" smtClean="0"/>
              <a:t>Assistants</a:t>
            </a:r>
          </a:p>
          <a:p>
            <a:pPr>
              <a:buNone/>
            </a:pPr>
            <a:endParaRPr lang="en-US" sz="3200" dirty="0" smtClean="0"/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1397BFD8-F312-4EF2-A268-44FB4BDDBBB0}" type="slidenum">
              <a:rPr lang="ru-RU" smtClean="0"/>
              <a:pPr algn="ctr"/>
              <a:t>4</a:t>
            </a:fld>
            <a:endParaRPr lang="ru-RU" dirty="0"/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COMPDS </a:t>
            </a:r>
            <a:r>
              <a:rPr lang="en-US" dirty="0" smtClean="0"/>
              <a:t>Course Team</a:t>
            </a:r>
            <a:endParaRPr lang="ru-RU" dirty="0"/>
          </a:p>
        </p:txBody>
      </p:sp>
      <p:pic>
        <p:nvPicPr>
          <p:cNvPr id="6" name="Рисунок 5" descr="3727740.jpg"/>
          <p:cNvPicPr>
            <a:picLocks noChangeAspect="1"/>
          </p:cNvPicPr>
          <p:nvPr/>
        </p:nvPicPr>
        <p:blipFill>
          <a:blip r:embed="rId2" cstate="print"/>
          <a:srcRect l="4108" t="6573" r="7395" b="3287"/>
          <a:stretch>
            <a:fillRect/>
          </a:stretch>
        </p:blipFill>
        <p:spPr>
          <a:xfrm>
            <a:off x="2247681" y="1428489"/>
            <a:ext cx="1861198" cy="1895752"/>
          </a:xfrm>
          <a:prstGeom prst="rect">
            <a:avLst/>
          </a:prstGeom>
        </p:spPr>
      </p:pic>
      <p:sp>
        <p:nvSpPr>
          <p:cNvPr id="7" name="Содержимое 1"/>
          <p:cNvSpPr txBox="1">
            <a:spLocks/>
          </p:cNvSpPr>
          <p:nvPr/>
        </p:nvSpPr>
        <p:spPr>
          <a:xfrm>
            <a:off x="771900" y="925748"/>
            <a:ext cx="10515600" cy="7002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7327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Instructors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86636" y="3185753"/>
            <a:ext cx="2600797" cy="629392"/>
          </a:xfrm>
          <a:prstGeom prst="rect">
            <a:avLst/>
          </a:prstGeom>
          <a:noFill/>
        </p:spPr>
        <p:txBody>
          <a:bodyPr wrap="square" lIns="72000" tIns="25200" rIns="0" bIns="25200" rtlCol="0" anchor="ctr" anchorCtr="0">
            <a:noAutofit/>
          </a:bodyPr>
          <a:lstStyle/>
          <a:p>
            <a:pPr algn="ctr"/>
            <a:r>
              <a:rPr lang="en-US" sz="2300" b="1" dirty="0" err="1" smtClean="0">
                <a:solidFill>
                  <a:srgbClr val="1E3272"/>
                </a:solidFill>
              </a:rPr>
              <a:t>Ksenya</a:t>
            </a:r>
            <a:r>
              <a:rPr lang="en-US" sz="2300" b="1" dirty="0" smtClean="0">
                <a:solidFill>
                  <a:srgbClr val="1E3272"/>
                </a:solidFill>
              </a:rPr>
              <a:t> </a:t>
            </a:r>
            <a:r>
              <a:rPr lang="en-US" sz="2300" b="1" dirty="0" err="1" smtClean="0">
                <a:solidFill>
                  <a:srgbClr val="1E3272"/>
                </a:solidFill>
              </a:rPr>
              <a:t>Drozdova</a:t>
            </a:r>
            <a:endParaRPr lang="ru-RU" sz="2300" b="1" dirty="0" smtClean="0">
              <a:solidFill>
                <a:srgbClr val="1E3272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016348" y="6008758"/>
            <a:ext cx="1912288" cy="490922"/>
          </a:xfrm>
          <a:prstGeom prst="rect">
            <a:avLst/>
          </a:prstGeom>
          <a:noFill/>
        </p:spPr>
        <p:txBody>
          <a:bodyPr wrap="square" lIns="72000" tIns="25200" rIns="0" bIns="25200" rtlCol="0" anchor="ctr" anchorCtr="0">
            <a:noAutofit/>
          </a:bodyPr>
          <a:lstStyle/>
          <a:p>
            <a:pPr algn="ctr"/>
            <a:r>
              <a:rPr lang="en-US" b="1" dirty="0" smtClean="0">
                <a:solidFill>
                  <a:srgbClr val="1E3272"/>
                </a:solidFill>
              </a:rPr>
              <a:t>Michael </a:t>
            </a:r>
            <a:r>
              <a:rPr lang="en-US" b="1" dirty="0" err="1" smtClean="0">
                <a:solidFill>
                  <a:srgbClr val="1E3272"/>
                </a:solidFill>
              </a:rPr>
              <a:t>Artemov</a:t>
            </a:r>
            <a:endParaRPr lang="ru-RU" b="1" dirty="0" smtClean="0">
              <a:solidFill>
                <a:srgbClr val="1E327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453808" y="5961127"/>
            <a:ext cx="1912288" cy="490922"/>
          </a:xfrm>
          <a:prstGeom prst="rect">
            <a:avLst/>
          </a:prstGeom>
          <a:noFill/>
        </p:spPr>
        <p:txBody>
          <a:bodyPr wrap="square" lIns="72000" tIns="25200" rIns="0" bIns="25200" rtlCol="0" anchor="ctr" anchorCtr="0">
            <a:noAutofit/>
          </a:bodyPr>
          <a:lstStyle/>
          <a:p>
            <a:pPr algn="ctr"/>
            <a:r>
              <a:rPr lang="en-US" b="1" dirty="0" err="1" smtClean="0">
                <a:solidFill>
                  <a:srgbClr val="1E3272"/>
                </a:solidFill>
              </a:rPr>
              <a:t>Arkady</a:t>
            </a:r>
            <a:r>
              <a:rPr lang="en-US" b="1" dirty="0" smtClean="0">
                <a:solidFill>
                  <a:srgbClr val="1E3272"/>
                </a:solidFill>
              </a:rPr>
              <a:t> Pavlov</a:t>
            </a:r>
            <a:endParaRPr lang="ru-RU" b="1" dirty="0" smtClean="0">
              <a:solidFill>
                <a:srgbClr val="1E3272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676700" y="3248336"/>
            <a:ext cx="2380341" cy="490922"/>
          </a:xfrm>
          <a:prstGeom prst="rect">
            <a:avLst/>
          </a:prstGeom>
          <a:noFill/>
        </p:spPr>
        <p:txBody>
          <a:bodyPr wrap="square" lIns="72000" tIns="25200" rIns="0" bIns="25200" rtlCol="0" anchor="ctr" anchorCtr="0">
            <a:noAutofit/>
          </a:bodyPr>
          <a:lstStyle/>
          <a:p>
            <a:pPr algn="ctr"/>
            <a:r>
              <a:rPr lang="en-US" sz="2300" b="1" dirty="0" err="1" smtClean="0">
                <a:solidFill>
                  <a:srgbClr val="1E3272"/>
                </a:solidFill>
              </a:rPr>
              <a:t>Fedor</a:t>
            </a:r>
            <a:r>
              <a:rPr lang="en-US" sz="2300" b="1" dirty="0" smtClean="0">
                <a:solidFill>
                  <a:srgbClr val="1E3272"/>
                </a:solidFill>
              </a:rPr>
              <a:t> </a:t>
            </a:r>
            <a:r>
              <a:rPr lang="en-US" sz="2300" b="1" dirty="0" err="1" smtClean="0">
                <a:solidFill>
                  <a:srgbClr val="1E3272"/>
                </a:solidFill>
              </a:rPr>
              <a:t>Pakhurov</a:t>
            </a:r>
            <a:endParaRPr lang="ru-RU" sz="2300" b="1" dirty="0" smtClean="0">
              <a:solidFill>
                <a:srgbClr val="1E3272"/>
              </a:solidFill>
            </a:endParaRPr>
          </a:p>
        </p:txBody>
      </p:sp>
      <p:pic>
        <p:nvPicPr>
          <p:cNvPr id="22" name="Рисунок 21" descr="IMG_6901.jpg"/>
          <p:cNvPicPr>
            <a:picLocks noChangeAspect="1"/>
          </p:cNvPicPr>
          <p:nvPr/>
        </p:nvPicPr>
        <p:blipFill>
          <a:blip r:embed="rId3" cstate="print"/>
          <a:srcRect l="4076" t="18363" r="4076" b="6121"/>
          <a:stretch>
            <a:fillRect/>
          </a:stretch>
        </p:blipFill>
        <p:spPr>
          <a:xfrm>
            <a:off x="8027472" y="1415731"/>
            <a:ext cx="1687352" cy="1847576"/>
          </a:xfrm>
          <a:prstGeom prst="rect">
            <a:avLst/>
          </a:prstGeom>
        </p:spPr>
      </p:pic>
      <p:pic>
        <p:nvPicPr>
          <p:cNvPr id="23" name="Рисунок 22" descr="photo_2026-01-12_19-28-31.jpg"/>
          <p:cNvPicPr>
            <a:picLocks noChangeAspect="1"/>
          </p:cNvPicPr>
          <p:nvPr/>
        </p:nvPicPr>
        <p:blipFill>
          <a:blip r:embed="rId4" cstate="print"/>
          <a:srcRect l="3336" t="6459" r="4449" b="8612"/>
          <a:stretch>
            <a:fillRect/>
          </a:stretch>
        </p:blipFill>
        <p:spPr>
          <a:xfrm>
            <a:off x="5047386" y="1419197"/>
            <a:ext cx="1970085" cy="1874468"/>
          </a:xfrm>
          <a:prstGeom prst="rect">
            <a:avLst/>
          </a:prstGeom>
        </p:spPr>
      </p:pic>
      <p:pic>
        <p:nvPicPr>
          <p:cNvPr id="25" name="Рисунок 24" descr="photo_2026-01-12_19-34-39.jpg"/>
          <p:cNvPicPr>
            <a:picLocks noChangeAspect="1"/>
          </p:cNvPicPr>
          <p:nvPr/>
        </p:nvPicPr>
        <p:blipFill>
          <a:blip r:embed="rId5" cstate="print"/>
          <a:srcRect l="9154" t="29454" r="39567" b="34547"/>
          <a:stretch>
            <a:fillRect/>
          </a:stretch>
        </p:blipFill>
        <p:spPr>
          <a:xfrm>
            <a:off x="4131069" y="4300239"/>
            <a:ext cx="1813061" cy="1697052"/>
          </a:xfrm>
          <a:prstGeom prst="rect">
            <a:avLst/>
          </a:prstGeom>
        </p:spPr>
      </p:pic>
      <p:pic>
        <p:nvPicPr>
          <p:cNvPr id="28" name="Рисунок 27" descr="IMG_6898.JPG"/>
          <p:cNvPicPr>
            <a:picLocks noChangeAspect="1"/>
          </p:cNvPicPr>
          <p:nvPr/>
        </p:nvPicPr>
        <p:blipFill>
          <a:blip r:embed="rId6" cstate="print"/>
          <a:srcRect t="11866"/>
          <a:stretch>
            <a:fillRect/>
          </a:stretch>
        </p:blipFill>
        <p:spPr>
          <a:xfrm>
            <a:off x="6486543" y="4304398"/>
            <a:ext cx="1911350" cy="168454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одержимое 1"/>
          <p:cNvSpPr>
            <a:spLocks noGrp="1"/>
          </p:cNvSpPr>
          <p:nvPr>
            <p:ph idx="1"/>
          </p:nvPr>
        </p:nvSpPr>
        <p:spPr>
          <a:xfrm>
            <a:off x="838200" y="1054100"/>
            <a:ext cx="10515600" cy="5616257"/>
          </a:xfrm>
        </p:spPr>
        <p:txBody>
          <a:bodyPr>
            <a:normAutofit fontScale="92500" lnSpcReduction="10000"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4400" dirty="0" smtClean="0"/>
              <a:t>Syllabus (</a:t>
            </a:r>
            <a:r>
              <a:rPr lang="en-US" sz="4400" dirty="0" smtClean="0">
                <a:solidFill>
                  <a:srgbClr val="2F5CB5"/>
                </a:solidFill>
              </a:rPr>
              <a:t>see the web site for details</a:t>
            </a:r>
            <a:r>
              <a:rPr lang="en-US" sz="4400" dirty="0" smtClean="0"/>
              <a:t>)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3900" dirty="0" smtClean="0"/>
              <a:t>Module 3: Computer Architecture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sz="3500" dirty="0" smtClean="0"/>
              <a:t>Computer architecture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sz="3500" dirty="0" smtClean="0"/>
              <a:t>Assembly language programming (RISC-V)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sz="3500" dirty="0" smtClean="0"/>
              <a:t>Home works, quizzes, and test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3900" dirty="0" smtClean="0"/>
              <a:t>Module 4: Operating Systems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sz="3500" dirty="0" smtClean="0"/>
              <a:t>Operating System Architecture (Linux)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sz="3500" dirty="0" smtClean="0"/>
              <a:t>System programming in C</a:t>
            </a:r>
          </a:p>
          <a:p>
            <a:pPr lvl="1">
              <a:lnSpc>
                <a:spcPct val="110000"/>
              </a:lnSpc>
              <a:spcBef>
                <a:spcPts val="0"/>
              </a:spcBef>
            </a:pPr>
            <a:r>
              <a:rPr lang="en-US" sz="3500" dirty="0" smtClean="0"/>
              <a:t>Home works, quizzes, and test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3900" dirty="0" smtClean="0"/>
              <a:t>Final Exam</a:t>
            </a:r>
          </a:p>
          <a:p>
            <a:pPr lvl="1"/>
            <a:endParaRPr lang="ru-RU" dirty="0"/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1397BFD8-F312-4EF2-A268-44FB4BDDBBB0}" type="slidenum">
              <a:rPr lang="ru-RU" smtClean="0"/>
              <a:pPr algn="ctr"/>
              <a:t>5</a:t>
            </a:fld>
            <a:endParaRPr lang="ru-RU" dirty="0"/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Outline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одержимое 1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4000" dirty="0" smtClean="0"/>
              <a:t>Increase your computer literacy</a:t>
            </a:r>
          </a:p>
          <a:p>
            <a:pPr>
              <a:lnSpc>
                <a:spcPct val="150000"/>
              </a:lnSpc>
            </a:pPr>
            <a:r>
              <a:rPr lang="en-US" sz="4000" dirty="0" smtClean="0"/>
              <a:t>Have an idea how computers under the hood</a:t>
            </a:r>
          </a:p>
          <a:p>
            <a:pPr>
              <a:lnSpc>
                <a:spcPct val="150000"/>
              </a:lnSpc>
            </a:pPr>
            <a:r>
              <a:rPr lang="en-US" sz="4000" dirty="0" smtClean="0"/>
              <a:t>Better understand performance</a:t>
            </a:r>
          </a:p>
          <a:p>
            <a:pPr>
              <a:lnSpc>
                <a:spcPct val="150000"/>
              </a:lnSpc>
            </a:pPr>
            <a:r>
              <a:rPr lang="en-US" sz="4000" dirty="0" smtClean="0"/>
              <a:t>Be familiar with system programming</a:t>
            </a:r>
          </a:p>
          <a:p>
            <a:pPr>
              <a:lnSpc>
                <a:spcPct val="150000"/>
              </a:lnSpc>
            </a:pPr>
            <a:r>
              <a:rPr lang="en-US" sz="4000" dirty="0" smtClean="0"/>
              <a:t>Be familiar with system tools</a:t>
            </a:r>
            <a:endParaRPr lang="ru-RU" sz="4000" dirty="0"/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1397BFD8-F312-4EF2-A268-44FB4BDDBBB0}" type="slidenum">
              <a:rPr lang="ru-RU" smtClean="0"/>
              <a:pPr algn="ctr"/>
              <a:t>6</a:t>
            </a:fld>
            <a:endParaRPr lang="ru-RU" dirty="0"/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 Motivation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1397BFD8-F312-4EF2-A268-44FB4BDDBBB0}" type="slidenum">
              <a:rPr lang="ru-RU" smtClean="0"/>
              <a:pPr algn="ctr"/>
              <a:t>7</a:t>
            </a:fld>
            <a:endParaRPr lang="ru-R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mtClean="0"/>
              <a:t>Example: Matrix Multiplication (part 1)</a:t>
            </a:r>
            <a:endParaRPr lang="en-US"/>
          </a:p>
        </p:txBody>
      </p:sp>
      <p:sp>
        <p:nvSpPr>
          <p:cNvPr id="5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6056884" y="1201316"/>
            <a:ext cx="4673074" cy="518911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import 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</a:t>
            </a:r>
            <a:b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from 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time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import 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time</a:t>
            </a:r>
            <a:b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/>
            </a:r>
            <a:b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en-US" altLang="en-US" sz="1600" b="1" i="1" u="none" strike="noStrike" cap="none" normalizeH="0" baseline="0" dirty="0" smtClean="0">
                <a:ln>
                  <a:noFill/>
                </a:ln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1024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1" u="none" strike="noStrike" cap="none" normalizeH="0" baseline="0" dirty="0" smtClean="0">
                <a:ln>
                  <a:noFill/>
                </a:ln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/>
            </a:r>
            <a:br>
              <a:rPr kumimoji="0" lang="en-US" altLang="en-US" sz="1600" b="1" i="1" u="none" strike="noStrike" cap="none" normalizeH="0" baseline="0" dirty="0" smtClean="0">
                <a:ln>
                  <a:noFill/>
                </a:ln>
                <a:solidFill>
                  <a:srgbClr val="0000FF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[[</a:t>
            </a:r>
            <a:r>
              <a:rPr kumimoji="0" lang="en-US" altLang="en-US" sz="1600" b="0" i="0" u="none" strike="noStrike" cap="none" normalizeH="0" baseline="0" dirty="0" err="1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random.random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for 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row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in 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range(n)]</a:t>
            </a:r>
            <a:b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for 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col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in 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range(n)]</a:t>
            </a:r>
            <a:b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[[</a:t>
            </a:r>
            <a:r>
              <a:rPr kumimoji="0" lang="en-US" altLang="en-US" sz="1600" b="0" i="0" u="none" strike="noStrike" cap="none" normalizeH="0" baseline="0" dirty="0" err="1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random.random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for 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row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in 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range(n)]</a:t>
            </a:r>
            <a:b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for 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col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in 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range(n)]</a:t>
            </a:r>
            <a:b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[[</a:t>
            </a:r>
            <a:r>
              <a:rPr kumimoji="0" lang="en-US" altLang="en-US" sz="1600" b="1" i="1" u="none" strike="noStrike" cap="none" normalizeH="0" baseline="0" dirty="0" smtClean="0">
                <a:ln>
                  <a:noFill/>
                </a:ln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0</a:t>
            </a:r>
            <a:br>
              <a:rPr kumimoji="0" lang="en-US" altLang="en-US" sz="1600" b="1" i="1" u="none" strike="noStrike" cap="none" normalizeH="0" baseline="0" dirty="0" smtClean="0">
                <a:ln>
                  <a:noFill/>
                </a:ln>
                <a:solidFill>
                  <a:srgbClr val="0000FF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sz="1600" b="1" i="1" u="none" strike="noStrike" cap="none" normalizeH="0" baseline="0" dirty="0" smtClean="0">
                <a:ln>
                  <a:noFill/>
                </a:ln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for 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row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in 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range(n)]</a:t>
            </a:r>
            <a:b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for 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col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in 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range(n)]</a:t>
            </a:r>
            <a:b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/>
            </a:r>
            <a:b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start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time()</a:t>
            </a:r>
            <a:b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for </a:t>
            </a:r>
            <a:r>
              <a:rPr kumimoji="0" lang="en-US" altLang="en-US" sz="1600" b="0" i="0" u="none" strike="noStrike" cap="none" normalizeH="0" baseline="0" dirty="0" err="1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in 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range(n):</a:t>
            </a:r>
            <a:b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for 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in 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range(n):</a:t>
            </a:r>
            <a:b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for 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k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in 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range(n):</a:t>
            </a:r>
            <a:b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C[</a:t>
            </a:r>
            <a:r>
              <a:rPr kumimoji="0" lang="en-US" altLang="en-US" sz="1600" b="0" i="0" u="none" strike="noStrike" cap="none" normalizeH="0" baseline="0" dirty="0" err="1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][j]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+= 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A[</a:t>
            </a:r>
            <a:r>
              <a:rPr kumimoji="0" lang="en-US" altLang="en-US" sz="1600" b="0" i="0" u="none" strike="noStrike" cap="none" normalizeH="0" baseline="0" dirty="0" err="1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][k]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B[k][j]</a:t>
            </a:r>
            <a:b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time()</a:t>
            </a:r>
            <a:b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/>
            </a:r>
            <a:b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print(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kumimoji="0" lang="en-US" altLang="en-US" sz="1600" b="1" i="1" u="none" strike="noStrike" cap="none" normalizeH="0" baseline="0" dirty="0" smtClean="0">
                <a:ln>
                  <a:noFill/>
                </a:ln>
                <a:solidFill>
                  <a:srgbClr val="660E7A"/>
                </a:solidFill>
                <a:effectLst/>
                <a:latin typeface="Consolas" panose="020B0609020204030204" pitchFamily="49" charset="0"/>
              </a:rPr>
              <a:t>%0.6f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'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% 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(end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- 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start))</a:t>
            </a:r>
            <a:endParaRPr kumimoji="0" lang="en-US" altLang="en-US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2"/>
          <p:cNvSpPr>
            <a:spLocks noChangeArrowheads="1"/>
          </p:cNvSpPr>
          <p:nvPr/>
        </p:nvSpPr>
        <p:spPr bwMode="auto">
          <a:xfrm>
            <a:off x="0" y="4030718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xmlns="" Requires="a14">
          <p:sp>
            <p:nvSpPr>
              <p:cNvPr id="8" name="Содержимое 1"/>
              <p:cNvSpPr txBox="1">
                <a:spLocks/>
              </p:cNvSpPr>
              <p:nvPr/>
            </p:nvSpPr>
            <p:spPr>
              <a:xfrm>
                <a:off x="838200" y="1178053"/>
                <a:ext cx="4812792" cy="499789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Wingdings" pitchFamily="2" charset="2"/>
                  <a:buChar char="§"/>
                  <a:defRPr sz="3600" kern="1200">
                    <a:solidFill>
                      <a:srgbClr val="273272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F7B217"/>
                  </a:buClr>
                  <a:buFont typeface="Wingdings" pitchFamily="2" charset="2"/>
                  <a:buChar char="§"/>
                  <a:defRPr sz="3200" kern="1200">
                    <a:solidFill>
                      <a:srgbClr val="273272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Wingdings" pitchFamily="2" charset="2"/>
                  <a:buChar char="§"/>
                  <a:defRPr sz="2400" kern="1200">
                    <a:solidFill>
                      <a:srgbClr val="273272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rgbClr val="273272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rgbClr val="273272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en-US" sz="4800" b="1" dirty="0" smtClean="0">
                    <a:solidFill>
                      <a:srgbClr val="F7B217"/>
                    </a:solidFill>
                  </a:rPr>
                  <a:t>Python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3200" b="1" dirty="0" smtClean="0"/>
                  <a:t>Floating-point operations: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32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2∗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320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3200" dirty="0" smtClean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2∗(</m:t>
                        </m:r>
                        <m:sSup>
                          <m:sSup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p>
                        </m:s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3200" dirty="0" smtClean="0"/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31</m:t>
                        </m:r>
                      </m:sup>
                    </m:sSup>
                  </m:oMath>
                </a14:m>
                <a:endParaRPr lang="en-US" sz="3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buNone/>
                </a:pPr>
                <a:r>
                  <a:rPr lang="en-US" sz="3200" b="1" dirty="0" smtClean="0"/>
                  <a:t>Running time: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3200" dirty="0" smtClean="0"/>
                  <a:t>503.130450 sec.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3200" b="1" dirty="0" smtClean="0"/>
                  <a:t>Performance: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3200" dirty="0" smtClean="0"/>
                  <a:t>~ 4,27 MFLOPS</a:t>
                </a:r>
                <a:endParaRPr lang="en-US" sz="3200" dirty="0"/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dirty="0" smtClean="0"/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8" name="Содержимое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178053"/>
                <a:ext cx="4812792" cy="4997896"/>
              </a:xfrm>
              <a:prstGeom prst="rect">
                <a:avLst/>
              </a:prstGeom>
              <a:blipFill rotWithShape="0">
                <a:blip r:embed="rId2" cstate="print"/>
                <a:stretch>
                  <a:fillRect l="-3295" t="-26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xmlns="" val="6112710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1397BFD8-F312-4EF2-A268-44FB4BDDBBB0}" type="slidenum">
              <a:rPr lang="ru-RU" smtClean="0"/>
              <a:pPr algn="ctr"/>
              <a:t>8</a:t>
            </a:fld>
            <a:endParaRPr lang="ru-R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Example: </a:t>
            </a:r>
            <a:r>
              <a:rPr lang="en-US"/>
              <a:t>Matrix </a:t>
            </a:r>
            <a:r>
              <a:rPr lang="en-US" smtClean="0"/>
              <a:t>Multiplication </a:t>
            </a:r>
            <a:r>
              <a:rPr lang="en-US"/>
              <a:t>(part </a:t>
            </a:r>
            <a:r>
              <a:rPr lang="en-US" smtClean="0"/>
              <a:t>2)</a:t>
            </a:r>
            <a:endParaRPr lang="en-US"/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5405431" y="1053681"/>
            <a:ext cx="5379719" cy="53276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400" b="1" dirty="0" smtClean="0">
                <a:solidFill>
                  <a:srgbClr val="000080"/>
                </a:solidFill>
                <a:latin typeface="Consolas" panose="020B0609020204030204" pitchFamily="49" charset="0"/>
              </a:rPr>
              <a:t>public </a:t>
            </a:r>
            <a:r>
              <a:rPr lang="en-US" altLang="en-US" sz="1400" b="1" dirty="0">
                <a:solidFill>
                  <a:srgbClr val="000080"/>
                </a:solidFill>
                <a:latin typeface="Consolas" panose="020B0609020204030204" pitchFamily="49" charset="0"/>
              </a:rPr>
              <a:t>class 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Matrix {</a:t>
            </a:r>
            <a:b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1400" b="1" dirty="0">
                <a:solidFill>
                  <a:srgbClr val="000080"/>
                </a:solidFill>
                <a:latin typeface="Consolas" panose="020B0609020204030204" pitchFamily="49" charset="0"/>
              </a:rPr>
              <a:t>static </a:t>
            </a:r>
            <a:r>
              <a:rPr lang="en-US" altLang="en-US" sz="1400" b="1" dirty="0" err="1" smtClean="0">
                <a:solidFill>
                  <a:srgbClr val="000080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1400" b="1" dirty="0" smtClean="0">
                <a:solidFill>
                  <a:srgbClr val="00008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400" b="1" i="1" dirty="0">
                <a:solidFill>
                  <a:srgbClr val="660E7A"/>
                </a:solidFill>
                <a:latin typeface="Consolas" panose="020B0609020204030204" pitchFamily="49" charset="0"/>
              </a:rPr>
              <a:t>n 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1024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b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1400" b="1" dirty="0">
                <a:solidFill>
                  <a:srgbClr val="000080"/>
                </a:solidFill>
                <a:latin typeface="Consolas" panose="020B0609020204030204" pitchFamily="49" charset="0"/>
              </a:rPr>
              <a:t>static </a:t>
            </a:r>
            <a:r>
              <a:rPr lang="en-US" altLang="en-US" sz="1400" b="1" dirty="0" smtClean="0">
                <a:solidFill>
                  <a:srgbClr val="000080"/>
                </a:solidFill>
                <a:latin typeface="Consolas" panose="020B0609020204030204" pitchFamily="49" charset="0"/>
              </a:rPr>
              <a:t>double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[][] </a:t>
            </a:r>
            <a:r>
              <a:rPr lang="en-US" altLang="en-US" sz="1400" b="1" i="1" dirty="0">
                <a:solidFill>
                  <a:srgbClr val="660E7A"/>
                </a:solidFill>
                <a:latin typeface="Consolas" panose="020B0609020204030204" pitchFamily="49" charset="0"/>
              </a:rPr>
              <a:t>A 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1400" b="1" dirty="0">
                <a:solidFill>
                  <a:srgbClr val="000080"/>
                </a:solidFill>
                <a:latin typeface="Consolas" panose="020B0609020204030204" pitchFamily="49" charset="0"/>
              </a:rPr>
              <a:t>new double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1400" b="1" i="1" dirty="0">
                <a:solidFill>
                  <a:srgbClr val="660E7A"/>
                </a:solidFill>
                <a:latin typeface="Consolas" panose="020B0609020204030204" pitchFamily="49" charset="0"/>
              </a:rPr>
              <a:t>n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][</a:t>
            </a:r>
            <a:r>
              <a:rPr lang="en-US" altLang="en-US" sz="1400" b="1" i="1" dirty="0">
                <a:solidFill>
                  <a:srgbClr val="660E7A"/>
                </a:solidFill>
                <a:latin typeface="Consolas" panose="020B0609020204030204" pitchFamily="49" charset="0"/>
              </a:rPr>
              <a:t>n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];</a:t>
            </a:r>
            <a:b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1400" b="1" dirty="0">
                <a:solidFill>
                  <a:srgbClr val="000080"/>
                </a:solidFill>
                <a:latin typeface="Consolas" panose="020B0609020204030204" pitchFamily="49" charset="0"/>
              </a:rPr>
              <a:t>static </a:t>
            </a:r>
            <a:r>
              <a:rPr lang="en-US" altLang="en-US" sz="1400" b="1" dirty="0" smtClean="0">
                <a:solidFill>
                  <a:srgbClr val="000080"/>
                </a:solidFill>
                <a:latin typeface="Consolas" panose="020B0609020204030204" pitchFamily="49" charset="0"/>
              </a:rPr>
              <a:t>double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[][] </a:t>
            </a:r>
            <a:r>
              <a:rPr lang="en-US" altLang="en-US" sz="1400" b="1" i="1" dirty="0">
                <a:solidFill>
                  <a:srgbClr val="660E7A"/>
                </a:solidFill>
                <a:latin typeface="Consolas" panose="020B0609020204030204" pitchFamily="49" charset="0"/>
              </a:rPr>
              <a:t>B 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1400" b="1" dirty="0">
                <a:solidFill>
                  <a:srgbClr val="000080"/>
                </a:solidFill>
                <a:latin typeface="Consolas" panose="020B0609020204030204" pitchFamily="49" charset="0"/>
              </a:rPr>
              <a:t>new double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1400" b="1" i="1" dirty="0">
                <a:solidFill>
                  <a:srgbClr val="660E7A"/>
                </a:solidFill>
                <a:latin typeface="Consolas" panose="020B0609020204030204" pitchFamily="49" charset="0"/>
              </a:rPr>
              <a:t>n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][</a:t>
            </a:r>
            <a:r>
              <a:rPr lang="en-US" altLang="en-US" sz="1400" b="1" i="1" dirty="0">
                <a:solidFill>
                  <a:srgbClr val="660E7A"/>
                </a:solidFill>
                <a:latin typeface="Consolas" panose="020B0609020204030204" pitchFamily="49" charset="0"/>
              </a:rPr>
              <a:t>n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];</a:t>
            </a:r>
            <a:b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1400" b="1" dirty="0">
                <a:solidFill>
                  <a:srgbClr val="000080"/>
                </a:solidFill>
                <a:latin typeface="Consolas" panose="020B0609020204030204" pitchFamily="49" charset="0"/>
              </a:rPr>
              <a:t>static </a:t>
            </a:r>
            <a:r>
              <a:rPr lang="en-US" altLang="en-US" sz="1400" b="1" dirty="0" smtClean="0">
                <a:solidFill>
                  <a:srgbClr val="000080"/>
                </a:solidFill>
                <a:latin typeface="Consolas" panose="020B0609020204030204" pitchFamily="49" charset="0"/>
              </a:rPr>
              <a:t>double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[][] </a:t>
            </a:r>
            <a:r>
              <a:rPr lang="en-US" altLang="en-US" sz="1400" b="1" i="1" dirty="0">
                <a:solidFill>
                  <a:srgbClr val="660E7A"/>
                </a:solidFill>
                <a:latin typeface="Consolas" panose="020B0609020204030204" pitchFamily="49" charset="0"/>
              </a:rPr>
              <a:t>C 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1400" b="1" dirty="0">
                <a:solidFill>
                  <a:srgbClr val="000080"/>
                </a:solidFill>
                <a:latin typeface="Consolas" panose="020B0609020204030204" pitchFamily="49" charset="0"/>
              </a:rPr>
              <a:t>new double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1400" b="1" i="1" dirty="0">
                <a:solidFill>
                  <a:srgbClr val="660E7A"/>
                </a:solidFill>
                <a:latin typeface="Consolas" panose="020B0609020204030204" pitchFamily="49" charset="0"/>
              </a:rPr>
              <a:t>n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][</a:t>
            </a:r>
            <a:r>
              <a:rPr lang="en-US" altLang="en-US" sz="1400" b="1" i="1" dirty="0">
                <a:solidFill>
                  <a:srgbClr val="660E7A"/>
                </a:solidFill>
                <a:latin typeface="Consolas" panose="020B0609020204030204" pitchFamily="49" charset="0"/>
              </a:rPr>
              <a:t>n</a:t>
            </a:r>
            <a:r>
              <a:rPr lang="en-US" altLang="en-US" sz="1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];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1400" b="1" dirty="0">
                <a:solidFill>
                  <a:srgbClr val="000080"/>
                </a:solidFill>
                <a:latin typeface="Consolas" panose="020B0609020204030204" pitchFamily="49" charset="0"/>
              </a:rPr>
              <a:t>public static void 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main(String[] </a:t>
            </a:r>
            <a:r>
              <a:rPr lang="en-US" alt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args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b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altLang="en-US" sz="1400" dirty="0" err="1" smtClean="0">
                <a:solidFill>
                  <a:srgbClr val="000000"/>
                </a:solidFill>
                <a:latin typeface="Consolas" panose="020B0609020204030204" pitchFamily="49" charset="0"/>
              </a:rPr>
              <a:t>java.util.Random</a:t>
            </a:r>
            <a:r>
              <a:rPr lang="en-US" altLang="en-US" sz="1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r 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1400" b="1" dirty="0">
                <a:solidFill>
                  <a:srgbClr val="000080"/>
                </a:solidFill>
                <a:latin typeface="Consolas" panose="020B0609020204030204" pitchFamily="49" charset="0"/>
              </a:rPr>
              <a:t>new </a:t>
            </a:r>
            <a:r>
              <a:rPr lang="en-US" alt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java.util.Random</a:t>
            </a:r>
            <a:r>
              <a:rPr lang="en-US" altLang="en-US" sz="1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altLang="en-US" sz="1400" b="1" dirty="0">
                <a:solidFill>
                  <a:srgbClr val="000080"/>
                </a:solidFill>
                <a:latin typeface="Consolas" panose="020B0609020204030204" pitchFamily="49" charset="0"/>
              </a:rPr>
              <a:t>for 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1400" b="1" dirty="0" err="1">
                <a:solidFill>
                  <a:srgbClr val="000080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1400" b="1" dirty="0">
                <a:solidFill>
                  <a:srgbClr val="00008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alt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US" altLang="en-US" sz="1400" b="1" i="1" dirty="0">
                <a:solidFill>
                  <a:srgbClr val="660E7A"/>
                </a:solidFill>
                <a:latin typeface="Consolas" panose="020B0609020204030204" pitchFamily="49" charset="0"/>
              </a:rPr>
              <a:t>n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alt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++) {</a:t>
            </a:r>
            <a:b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en-US" sz="1400" b="1" dirty="0">
                <a:solidFill>
                  <a:srgbClr val="000080"/>
                </a:solidFill>
                <a:latin typeface="Consolas" panose="020B0609020204030204" pitchFamily="49" charset="0"/>
              </a:rPr>
              <a:t>for 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1400" b="1" dirty="0" err="1">
                <a:solidFill>
                  <a:srgbClr val="000080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1400" b="1" dirty="0">
                <a:solidFill>
                  <a:srgbClr val="00008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j = </a:t>
            </a:r>
            <a:r>
              <a:rPr lang="en-US" alt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 j &lt; </a:t>
            </a:r>
            <a:r>
              <a:rPr lang="en-US" altLang="en-US" sz="1400" b="1" i="1" dirty="0">
                <a:solidFill>
                  <a:srgbClr val="660E7A"/>
                </a:solidFill>
                <a:latin typeface="Consolas" panose="020B0609020204030204" pitchFamily="49" charset="0"/>
              </a:rPr>
              <a:t>n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alt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j++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b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en-US" altLang="en-US" sz="1400" b="1" i="1" dirty="0">
                <a:solidFill>
                  <a:srgbClr val="660E7A"/>
                </a:solidFill>
                <a:latin typeface="Consolas" panose="020B0609020204030204" pitchFamily="49" charset="0"/>
              </a:rPr>
              <a:t>A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][j] = </a:t>
            </a:r>
            <a:r>
              <a:rPr lang="en-US" alt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r.nextDouble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b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en-US" altLang="en-US" sz="1400" b="1" i="1" dirty="0">
                <a:solidFill>
                  <a:srgbClr val="660E7A"/>
                </a:solidFill>
                <a:latin typeface="Consolas" panose="020B0609020204030204" pitchFamily="49" charset="0"/>
              </a:rPr>
              <a:t>B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][j] = </a:t>
            </a:r>
            <a:r>
              <a:rPr lang="en-US" alt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r.nextDouble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b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en-US" altLang="en-US" sz="1400" b="1" i="1" dirty="0">
                <a:solidFill>
                  <a:srgbClr val="660E7A"/>
                </a:solidFill>
                <a:latin typeface="Consolas" panose="020B0609020204030204" pitchFamily="49" charset="0"/>
              </a:rPr>
              <a:t>C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][j] = </a:t>
            </a:r>
            <a:r>
              <a:rPr lang="en-US" alt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b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}</a:t>
            </a:r>
            <a:b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}</a:t>
            </a:r>
            <a:b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altLang="en-US" sz="1400" b="1" dirty="0">
                <a:solidFill>
                  <a:srgbClr val="000080"/>
                </a:solidFill>
                <a:latin typeface="Consolas" panose="020B0609020204030204" pitchFamily="49" charset="0"/>
              </a:rPr>
              <a:t>long 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start = </a:t>
            </a:r>
            <a:r>
              <a:rPr lang="en-US" alt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System.</a:t>
            </a:r>
            <a:r>
              <a:rPr lang="en-US" altLang="en-US" sz="1400" i="1" dirty="0" err="1">
                <a:solidFill>
                  <a:srgbClr val="000000"/>
                </a:solidFill>
                <a:latin typeface="Consolas" panose="020B0609020204030204" pitchFamily="49" charset="0"/>
              </a:rPr>
              <a:t>nanoTime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b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altLang="en-US" sz="1400" b="1" dirty="0">
                <a:solidFill>
                  <a:srgbClr val="000080"/>
                </a:solidFill>
                <a:latin typeface="Consolas" panose="020B0609020204030204" pitchFamily="49" charset="0"/>
              </a:rPr>
              <a:t>for 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1400" b="1" dirty="0" err="1">
                <a:solidFill>
                  <a:srgbClr val="000080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1400" b="1" dirty="0">
                <a:solidFill>
                  <a:srgbClr val="00008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alt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US" altLang="en-US" sz="1400" b="1" i="1" dirty="0">
                <a:solidFill>
                  <a:srgbClr val="660E7A"/>
                </a:solidFill>
                <a:latin typeface="Consolas" panose="020B0609020204030204" pitchFamily="49" charset="0"/>
              </a:rPr>
              <a:t>n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alt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++) {</a:t>
            </a:r>
            <a:b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en-US" sz="1400" b="1" dirty="0">
                <a:solidFill>
                  <a:srgbClr val="000080"/>
                </a:solidFill>
                <a:latin typeface="Consolas" panose="020B0609020204030204" pitchFamily="49" charset="0"/>
              </a:rPr>
              <a:t>for 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1400" b="1" dirty="0" err="1">
                <a:solidFill>
                  <a:srgbClr val="000080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1400" b="1" dirty="0">
                <a:solidFill>
                  <a:srgbClr val="00008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j = </a:t>
            </a:r>
            <a:r>
              <a:rPr lang="en-US" alt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 j &lt; </a:t>
            </a:r>
            <a:r>
              <a:rPr lang="en-US" altLang="en-US" sz="1400" b="1" i="1" dirty="0">
                <a:solidFill>
                  <a:srgbClr val="660E7A"/>
                </a:solidFill>
                <a:latin typeface="Consolas" panose="020B0609020204030204" pitchFamily="49" charset="0"/>
              </a:rPr>
              <a:t>n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alt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j++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b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en-US" altLang="en-US" sz="1400" b="1" dirty="0">
                <a:solidFill>
                  <a:srgbClr val="000080"/>
                </a:solidFill>
                <a:latin typeface="Consolas" panose="020B0609020204030204" pitchFamily="49" charset="0"/>
              </a:rPr>
              <a:t>for 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1400" b="1" dirty="0" err="1">
                <a:solidFill>
                  <a:srgbClr val="000080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1400" b="1" dirty="0">
                <a:solidFill>
                  <a:srgbClr val="00008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k = </a:t>
            </a:r>
            <a:r>
              <a:rPr lang="en-US" alt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 k &lt; </a:t>
            </a:r>
            <a:r>
              <a:rPr lang="en-US" altLang="en-US" sz="1400" b="1" i="1" dirty="0">
                <a:solidFill>
                  <a:srgbClr val="660E7A"/>
                </a:solidFill>
                <a:latin typeface="Consolas" panose="020B0609020204030204" pitchFamily="49" charset="0"/>
              </a:rPr>
              <a:t>n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 k++) {</a:t>
            </a:r>
            <a:b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en-US" altLang="en-US" sz="1400" b="1" i="1" dirty="0">
                <a:solidFill>
                  <a:srgbClr val="660E7A"/>
                </a:solidFill>
                <a:latin typeface="Consolas" panose="020B0609020204030204" pitchFamily="49" charset="0"/>
              </a:rPr>
              <a:t>C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][j] += </a:t>
            </a:r>
            <a:r>
              <a:rPr lang="en-US" altLang="en-US" sz="1400" b="1" i="1" dirty="0">
                <a:solidFill>
                  <a:srgbClr val="660E7A"/>
                </a:solidFill>
                <a:latin typeface="Consolas" panose="020B0609020204030204" pitchFamily="49" charset="0"/>
              </a:rPr>
              <a:t>A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][k] * </a:t>
            </a:r>
            <a:r>
              <a:rPr lang="en-US" altLang="en-US" sz="1400" b="1" i="1" dirty="0">
                <a:solidFill>
                  <a:srgbClr val="660E7A"/>
                </a:solidFill>
                <a:latin typeface="Consolas" panose="020B0609020204030204" pitchFamily="49" charset="0"/>
              </a:rPr>
              <a:t>B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[k][j];</a:t>
            </a:r>
            <a:b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}</a:t>
            </a:r>
            <a:b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}</a:t>
            </a:r>
            <a:b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}</a:t>
            </a:r>
            <a:b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altLang="en-US" sz="1400" b="1" dirty="0">
                <a:solidFill>
                  <a:srgbClr val="000080"/>
                </a:solidFill>
                <a:latin typeface="Consolas" panose="020B0609020204030204" pitchFamily="49" charset="0"/>
              </a:rPr>
              <a:t>long 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stop = </a:t>
            </a:r>
            <a:r>
              <a:rPr lang="en-US" alt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System.</a:t>
            </a:r>
            <a:r>
              <a:rPr lang="en-US" altLang="en-US" sz="1400" i="1" dirty="0" err="1">
                <a:solidFill>
                  <a:srgbClr val="000000"/>
                </a:solidFill>
                <a:latin typeface="Consolas" panose="020B0609020204030204" pitchFamily="49" charset="0"/>
              </a:rPr>
              <a:t>nanoTime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b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alt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System.</a:t>
            </a:r>
            <a:r>
              <a:rPr lang="en-US" altLang="en-US" sz="1400" b="1" i="1" dirty="0" err="1">
                <a:solidFill>
                  <a:srgbClr val="660E7A"/>
                </a:solidFill>
                <a:latin typeface="Consolas" panose="020B0609020204030204" pitchFamily="49" charset="0"/>
              </a:rPr>
              <a:t>out</a:t>
            </a:r>
            <a:r>
              <a:rPr lang="en-US" alt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.println</a:t>
            </a:r>
            <a:r>
              <a:rPr lang="en-US" altLang="en-US" sz="1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(stop - start) * </a:t>
            </a:r>
            <a:r>
              <a:rPr lang="en-US" alt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1e-9</a:t>
            </a:r>
            <a:r>
              <a:rPr lang="en-US" altLang="en-US" sz="1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  <a:b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altLang="en-US" sz="1400" dirty="0">
              <a:latin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xmlns="" Requires="a14">
          <p:sp>
            <p:nvSpPr>
              <p:cNvPr id="6" name="Содержимое 1"/>
              <p:cNvSpPr txBox="1">
                <a:spLocks/>
              </p:cNvSpPr>
              <p:nvPr/>
            </p:nvSpPr>
            <p:spPr>
              <a:xfrm>
                <a:off x="838200" y="1178053"/>
                <a:ext cx="4812792" cy="499789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Wingdings" pitchFamily="2" charset="2"/>
                  <a:buChar char="§"/>
                  <a:defRPr sz="3600" kern="1200">
                    <a:solidFill>
                      <a:srgbClr val="273272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F7B217"/>
                  </a:buClr>
                  <a:buFont typeface="Wingdings" pitchFamily="2" charset="2"/>
                  <a:buChar char="§"/>
                  <a:defRPr sz="3200" kern="1200">
                    <a:solidFill>
                      <a:srgbClr val="273272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Wingdings" pitchFamily="2" charset="2"/>
                  <a:buChar char="§"/>
                  <a:defRPr sz="2400" kern="1200">
                    <a:solidFill>
                      <a:srgbClr val="273272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rgbClr val="273272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rgbClr val="273272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en-US" sz="4800" b="1" dirty="0" smtClean="0">
                    <a:solidFill>
                      <a:srgbClr val="F7B217"/>
                    </a:solidFill>
                  </a:rPr>
                  <a:t>Java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3200" b="1" dirty="0" smtClean="0"/>
                  <a:t>Floating-point operations: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32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2∗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320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3200" dirty="0" smtClean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2∗(</m:t>
                        </m:r>
                        <m:sSup>
                          <m:sSup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p>
                        </m:s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3200" dirty="0" smtClean="0"/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31</m:t>
                        </m:r>
                      </m:sup>
                    </m:sSup>
                  </m:oMath>
                </a14:m>
                <a:endParaRPr lang="en-US" sz="3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buNone/>
                </a:pPr>
                <a:r>
                  <a:rPr lang="en-US" sz="3200" b="1" dirty="0" smtClean="0"/>
                  <a:t>Running time: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3200" dirty="0" smtClean="0"/>
                  <a:t>12.946224 sec.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3200" b="1" dirty="0" smtClean="0"/>
                  <a:t>Performance: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3200" dirty="0" smtClean="0"/>
                  <a:t>~ 165 MFLOPS</a:t>
                </a:r>
                <a:endParaRPr lang="en-US" sz="3200" dirty="0"/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dirty="0" smtClean="0"/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6" name="Содержимое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178053"/>
                <a:ext cx="4812792" cy="4997896"/>
              </a:xfrm>
              <a:prstGeom prst="rect">
                <a:avLst/>
              </a:prstGeom>
              <a:blipFill rotWithShape="0">
                <a:blip r:embed="rId2" cstate="print"/>
                <a:stretch>
                  <a:fillRect l="-3295" t="-26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xmlns="" val="476216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1397BFD8-F312-4EF2-A268-44FB4BDDBBB0}" type="slidenum">
              <a:rPr lang="ru-RU" smtClean="0"/>
              <a:pPr algn="ctr"/>
              <a:t>9</a:t>
            </a:fld>
            <a:endParaRPr lang="ru-R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Example: Matrix </a:t>
            </a:r>
            <a:r>
              <a:rPr lang="en-US"/>
              <a:t>Multiplication (part </a:t>
            </a:r>
            <a:r>
              <a:rPr lang="en-US" smtClean="0"/>
              <a:t>3)</a:t>
            </a:r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477256" y="1048666"/>
            <a:ext cx="6435344" cy="57431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#include 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stdlib.h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#include 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stdio.h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#include 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&lt;sys/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time.h</a:t>
            </a:r>
            <a:r>
              <a:rPr lang="en-US" altLang="en-US" sz="12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</a:p>
          <a:p>
            <a:pPr lv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200" b="1" dirty="0" smtClean="0">
                <a:solidFill>
                  <a:srgbClr val="000080"/>
                </a:solidFill>
                <a:latin typeface="Consolas" panose="020B0609020204030204" pitchFamily="49" charset="0"/>
              </a:rPr>
              <a:t>#</a:t>
            </a: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define 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n </a:t>
            </a:r>
            <a:r>
              <a:rPr lang="en-US" alt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1024</a:t>
            </a:r>
            <a:br>
              <a:rPr lang="en-US" alt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</a:b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double 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A[n][n];</a:t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double 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B[n][n];</a:t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double 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C[n][n];</a:t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12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 smtClean="0">
                <a:solidFill>
                  <a:srgbClr val="000080"/>
                </a:solidFill>
                <a:latin typeface="Consolas" panose="020B0609020204030204" pitchFamily="49" charset="0"/>
              </a:rPr>
              <a:t>float 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tdiff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1200" b="1" dirty="0" err="1">
                <a:solidFill>
                  <a:srgbClr val="000080"/>
                </a:solidFill>
                <a:latin typeface="Consolas" panose="020B0609020204030204" pitchFamily="49" charset="0"/>
              </a:rPr>
              <a:t>struct</a:t>
            </a: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timeval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*start, </a:t>
            </a:r>
            <a:r>
              <a:rPr lang="en-US" altLang="en-US" sz="1200" b="1" dirty="0" err="1">
                <a:solidFill>
                  <a:srgbClr val="000080"/>
                </a:solidFill>
                <a:latin typeface="Consolas" panose="020B0609020204030204" pitchFamily="49" charset="0"/>
              </a:rPr>
              <a:t>struct</a:t>
            </a: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timeval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*end) {</a:t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return 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(end</a:t>
            </a:r>
            <a:r>
              <a:rPr lang="en-US" altLang="en-US" sz="1200" b="1" dirty="0">
                <a:solidFill>
                  <a:srgbClr val="006666"/>
                </a:solidFill>
                <a:latin typeface="Consolas" panose="020B0609020204030204" pitchFamily="49" charset="0"/>
              </a:rPr>
              <a:t>-&gt;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tv_sec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- start</a:t>
            </a:r>
            <a:r>
              <a:rPr lang="en-US" altLang="en-US" sz="1200" b="1" dirty="0">
                <a:solidFill>
                  <a:srgbClr val="006666"/>
                </a:solidFill>
                <a:latin typeface="Consolas" panose="020B0609020204030204" pitchFamily="49" charset="0"/>
              </a:rPr>
              <a:t>-&gt;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tv_sec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en-US" altLang="en-US" sz="12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</a:p>
          <a:p>
            <a:pPr lv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2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US" altLang="en-US" sz="12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12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e-6*(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end</a:t>
            </a:r>
            <a:r>
              <a:rPr lang="en-US" altLang="en-US" sz="1200" b="1" dirty="0">
                <a:solidFill>
                  <a:srgbClr val="006666"/>
                </a:solidFill>
                <a:latin typeface="Consolas" panose="020B0609020204030204" pitchFamily="49" charset="0"/>
              </a:rPr>
              <a:t>-&gt;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tv_usec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- start</a:t>
            </a:r>
            <a:r>
              <a:rPr lang="en-US" altLang="en-US" sz="1200" b="1" dirty="0">
                <a:solidFill>
                  <a:srgbClr val="006666"/>
                </a:solidFill>
                <a:latin typeface="Consolas" panose="020B0609020204030204" pitchFamily="49" charset="0"/>
              </a:rPr>
              <a:t>-&gt;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tv_usec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200" b="1" dirty="0" err="1" smtClean="0">
                <a:solidFill>
                  <a:srgbClr val="000080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1200" b="1" dirty="0" smtClean="0">
                <a:solidFill>
                  <a:srgbClr val="00008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main(</a:t>
            </a:r>
            <a:r>
              <a:rPr lang="en-US" altLang="en-US" sz="1200" b="1" dirty="0" err="1">
                <a:solidFill>
                  <a:srgbClr val="000080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argc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1200" b="1" dirty="0" err="1">
                <a:solidFill>
                  <a:srgbClr val="000080"/>
                </a:solidFill>
                <a:latin typeface="Consolas" panose="020B0609020204030204" pitchFamily="49" charset="0"/>
              </a:rPr>
              <a:t>const</a:t>
            </a: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 char 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argv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[]) {</a:t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for 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1200" b="1" dirty="0" err="1">
                <a:solidFill>
                  <a:srgbClr val="000080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&lt; n; 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++) {</a:t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for 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1200" b="1" dirty="0" err="1">
                <a:solidFill>
                  <a:srgbClr val="000080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j = </a:t>
            </a:r>
            <a:r>
              <a:rPr lang="en-US" alt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 j &lt; n; 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j++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A[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][j] = (</a:t>
            </a: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double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)rand() / (</a:t>
            </a: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double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)RAND_MAX;</a:t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B[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][j] = (</a:t>
            </a: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double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)rand() / (</a:t>
            </a: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double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)RAND_MAX;</a:t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C[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][j] = </a:t>
            </a:r>
            <a:r>
              <a:rPr lang="en-US" alt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    }</a:t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1200" b="1" dirty="0" err="1">
                <a:solidFill>
                  <a:srgbClr val="000080"/>
                </a:solidFill>
                <a:latin typeface="Consolas" panose="020B0609020204030204" pitchFamily="49" charset="0"/>
              </a:rPr>
              <a:t>struct</a:t>
            </a: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timeval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start, end;</a:t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gettimeofday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(&amp;start, NULL);</a:t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for 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1200" b="1" dirty="0" err="1">
                <a:solidFill>
                  <a:srgbClr val="000080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&lt; n; 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++) {</a:t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for 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1200" b="1" dirty="0" err="1">
                <a:solidFill>
                  <a:srgbClr val="000080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j = </a:t>
            </a:r>
            <a:r>
              <a:rPr lang="en-US" alt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 j &lt; n; 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j++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for 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1200" b="1" dirty="0" err="1">
                <a:solidFill>
                  <a:srgbClr val="000080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k = </a:t>
            </a:r>
            <a:r>
              <a:rPr lang="en-US" alt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 k &lt; n; k++) {</a:t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C[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][j] += A[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][k] * B[k][j];</a:t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}</a:t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    }</a:t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gettimeofday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(&amp;end, NULL);</a:t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printf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1200" b="1" dirty="0">
                <a:solidFill>
                  <a:srgbClr val="008000"/>
                </a:solidFill>
                <a:latin typeface="Consolas" panose="020B0609020204030204" pitchFamily="49" charset="0"/>
              </a:rPr>
              <a:t>"%0.6f</a:t>
            </a: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\n</a:t>
            </a:r>
            <a:r>
              <a:rPr lang="en-US" altLang="en-US" sz="1200" b="1" dirty="0">
                <a:solidFill>
                  <a:srgbClr val="008000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tdiff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(&amp;start, &amp;end));</a:t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1200" b="1" dirty="0">
                <a:solidFill>
                  <a:srgbClr val="000080"/>
                </a:solidFill>
                <a:latin typeface="Consolas" panose="020B0609020204030204" pitchFamily="49" charset="0"/>
              </a:rPr>
              <a:t>return </a:t>
            </a:r>
            <a:r>
              <a:rPr lang="en-US" alt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b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altLang="en-US" sz="1200" dirty="0">
              <a:latin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xmlns="" Requires="a14">
          <p:sp>
            <p:nvSpPr>
              <p:cNvPr id="8" name="Содержимое 1"/>
              <p:cNvSpPr txBox="1">
                <a:spLocks noGrp="1"/>
              </p:cNvSpPr>
              <p:nvPr>
                <p:ph idx="1"/>
              </p:nvPr>
            </p:nvSpPr>
            <p:spPr>
              <a:xfrm>
                <a:off x="838200" y="1177925"/>
                <a:ext cx="4821936" cy="499745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Wingdings" pitchFamily="2" charset="2"/>
                  <a:buChar char="§"/>
                  <a:defRPr sz="3600" kern="1200">
                    <a:solidFill>
                      <a:srgbClr val="273272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F7B217"/>
                  </a:buClr>
                  <a:buFont typeface="Wingdings" pitchFamily="2" charset="2"/>
                  <a:buChar char="§"/>
                  <a:defRPr sz="3200" kern="1200">
                    <a:solidFill>
                      <a:srgbClr val="273272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Wingdings" pitchFamily="2" charset="2"/>
                  <a:buChar char="§"/>
                  <a:defRPr sz="2400" kern="1200">
                    <a:solidFill>
                      <a:srgbClr val="273272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rgbClr val="273272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rgbClr val="273272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en-US" sz="4800" b="1" dirty="0" smtClean="0">
                    <a:solidFill>
                      <a:srgbClr val="F7B217"/>
                    </a:solidFill>
                  </a:rPr>
                  <a:t>C Language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3200" b="1" dirty="0" smtClean="0"/>
                  <a:t>Floating-point operations: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32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2∗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320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3200" dirty="0" smtClean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2∗(</m:t>
                        </m:r>
                        <m:sSup>
                          <m:sSup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p>
                        </m:s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3200" dirty="0" smtClean="0"/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31</m:t>
                        </m:r>
                      </m:sup>
                    </m:sSup>
                  </m:oMath>
                </a14:m>
                <a:endParaRPr lang="en-US" sz="3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1800"/>
                  </a:spcBef>
                  <a:buNone/>
                </a:pPr>
                <a:r>
                  <a:rPr lang="en-US" sz="3200" b="1" dirty="0" smtClean="0"/>
                  <a:t>Running time: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3200" dirty="0" smtClean="0"/>
                  <a:t>13.714264 sec.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3200" b="1" dirty="0" smtClean="0"/>
                  <a:t>Performance: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1200"/>
                  </a:spcBef>
                  <a:buNone/>
                </a:pPr>
                <a:r>
                  <a:rPr lang="en-US" sz="3200" dirty="0" smtClean="0"/>
                  <a:t>~ 153 MFLOPS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dirty="0" smtClean="0"/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8" name="Содержимое 1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7925"/>
                <a:ext cx="4821936" cy="4997450"/>
              </a:xfrm>
              <a:prstGeom prst="rect">
                <a:avLst/>
              </a:prstGeom>
              <a:blipFill rotWithShape="0">
                <a:blip r:embed="rId2" cstate="print"/>
                <a:stretch>
                  <a:fillRect l="-3287" t="-26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xmlns="" val="3690992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838200" y="1178053"/>
            <a:ext cx="10515600" cy="700443"/>
          </a:xfrm>
        </p:spPr>
        <p:txBody>
          <a:bodyPr/>
          <a:lstStyle/>
          <a:p>
            <a:pPr marL="0" indent="0" algn="ctr">
              <a:buNone/>
            </a:pPr>
            <a:r>
              <a:rPr lang="en-US" sz="4400" b="1" smtClean="0">
                <a:solidFill>
                  <a:srgbClr val="F7B217"/>
                </a:solidFill>
              </a:rPr>
              <a:t>C Language: Optimizations</a:t>
            </a:r>
            <a:endParaRPr lang="en-US" sz="4400" b="1">
              <a:solidFill>
                <a:srgbClr val="F7B217"/>
              </a:solidFill>
            </a:endParaRPr>
          </a:p>
          <a:p>
            <a:pPr marL="0" indent="0">
              <a:buNone/>
            </a:pPr>
            <a:endParaRPr lang="en-US" smtClean="0"/>
          </a:p>
          <a:p>
            <a:pPr marL="0" indent="0">
              <a:buNone/>
            </a:pPr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1397BFD8-F312-4EF2-A268-44FB4BDDBBB0}" type="slidenum">
              <a:rPr lang="ru-RU" smtClean="0"/>
              <a:pPr algn="ctr"/>
              <a:t>10</a:t>
            </a:fld>
            <a:endParaRPr lang="ru-R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Example: </a:t>
            </a:r>
            <a:r>
              <a:rPr lang="en-US"/>
              <a:t>Matrix Multiplication (part </a:t>
            </a:r>
            <a:r>
              <a:rPr lang="en-US" smtClean="0"/>
              <a:t>4)</a:t>
            </a:r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44424" y="2017467"/>
            <a:ext cx="3742944" cy="2585323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en-US" sz="3200" b="1" dirty="0" smtClean="0">
                <a:solidFill>
                  <a:srgbClr val="000080"/>
                </a:solidFill>
              </a:rPr>
              <a:t>Loop order: </a:t>
            </a:r>
            <a:r>
              <a:rPr lang="en-US" altLang="en-US" sz="3200" b="1" dirty="0" err="1" smtClean="0">
                <a:solidFill>
                  <a:srgbClr val="000080"/>
                </a:solidFill>
              </a:rPr>
              <a:t>i</a:t>
            </a:r>
            <a:r>
              <a:rPr lang="en-US" altLang="en-US" sz="3200" b="1" dirty="0" smtClean="0">
                <a:solidFill>
                  <a:srgbClr val="000080"/>
                </a:solidFill>
              </a:rPr>
              <a:t>, j, k</a:t>
            </a:r>
          </a:p>
          <a:p>
            <a:endParaRPr lang="en-US" altLang="en-US" b="1" dirty="0">
              <a:solidFill>
                <a:srgbClr val="000080"/>
              </a:solidFill>
              <a:latin typeface="Consolas" panose="020B0609020204030204" pitchFamily="49" charset="0"/>
            </a:endParaRPr>
          </a:p>
          <a:p>
            <a:r>
              <a:rPr lang="en-US" altLang="en-US" sz="1600" b="1" dirty="0" smtClean="0">
                <a:solidFill>
                  <a:srgbClr val="000080"/>
                </a:solidFill>
                <a:latin typeface="Consolas" panose="020B0609020204030204" pitchFamily="49" charset="0"/>
              </a:rPr>
              <a:t>for 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1600" b="1" dirty="0" err="1">
                <a:solidFill>
                  <a:srgbClr val="000080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1600" b="1" dirty="0">
                <a:solidFill>
                  <a:srgbClr val="00008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600" dirty="0" err="1" smtClean="0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altLang="en-US" sz="1600" dirty="0" err="1" smtClean="0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US" altLang="en-US" sz="1600" b="1" i="1" dirty="0" smtClean="0">
                <a:solidFill>
                  <a:srgbClr val="660E7A"/>
                </a:solidFill>
                <a:latin typeface="Consolas" panose="020B0609020204030204" pitchFamily="49" charset="0"/>
              </a:rPr>
              <a:t>n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alt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++) {</a:t>
            </a:r>
            <a:b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600" b="1" dirty="0" smtClean="0">
                <a:solidFill>
                  <a:srgbClr val="000080"/>
                </a:solidFill>
                <a:latin typeface="Consolas" panose="020B0609020204030204" pitchFamily="49" charset="0"/>
              </a:rPr>
              <a:t>for 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1600" b="1" dirty="0" err="1">
                <a:solidFill>
                  <a:srgbClr val="000080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1600" b="1" dirty="0">
                <a:solidFill>
                  <a:srgbClr val="00008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j= </a:t>
            </a:r>
            <a:r>
              <a:rPr lang="en-US" alt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j &lt; </a:t>
            </a:r>
            <a:r>
              <a:rPr lang="en-US" altLang="en-US" sz="1600" b="1" i="1" dirty="0" smtClean="0">
                <a:solidFill>
                  <a:srgbClr val="660E7A"/>
                </a:solidFill>
                <a:latin typeface="Consolas" panose="020B0609020204030204" pitchFamily="49" charset="0"/>
              </a:rPr>
              <a:t>n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 j++) {</a:t>
            </a:r>
            <a:b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600" b="1" dirty="0" smtClean="0">
                <a:solidFill>
                  <a:srgbClr val="000080"/>
                </a:solidFill>
                <a:latin typeface="Consolas" panose="020B0609020204030204" pitchFamily="49" charset="0"/>
              </a:rPr>
              <a:t>for 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1600" b="1" dirty="0" err="1">
                <a:solidFill>
                  <a:srgbClr val="000080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1600" b="1" dirty="0">
                <a:solidFill>
                  <a:srgbClr val="00008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k= </a:t>
            </a:r>
            <a:r>
              <a:rPr lang="en-US" alt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k &lt; </a:t>
            </a:r>
            <a:r>
              <a:rPr lang="en-US" altLang="en-US" sz="1600" b="1" i="1" dirty="0" smtClean="0">
                <a:solidFill>
                  <a:srgbClr val="660E7A"/>
                </a:solidFill>
                <a:latin typeface="Consolas" panose="020B0609020204030204" pitchFamily="49" charset="0"/>
              </a:rPr>
              <a:t>n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 k++) {</a:t>
            </a:r>
            <a:b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altLang="en-US" sz="1600" b="1" i="1" dirty="0" smtClean="0">
                <a:solidFill>
                  <a:srgbClr val="660E7A"/>
                </a:solidFill>
                <a:latin typeface="Consolas" panose="020B0609020204030204" pitchFamily="49" charset="0"/>
              </a:rPr>
              <a:t>C</a:t>
            </a: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1600" dirty="0" err="1" smtClean="0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][j</a:t>
            </a: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]+= </a:t>
            </a:r>
            <a:r>
              <a:rPr lang="en-US" altLang="en-US" sz="1600" b="1" i="1" dirty="0">
                <a:solidFill>
                  <a:srgbClr val="660E7A"/>
                </a:solidFill>
                <a:latin typeface="Consolas" panose="020B0609020204030204" pitchFamily="49" charset="0"/>
              </a:rPr>
              <a:t>A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][k</a:t>
            </a: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]*</a:t>
            </a:r>
            <a:r>
              <a:rPr lang="en-US" altLang="en-US" sz="1600" b="1" i="1" dirty="0" smtClean="0">
                <a:solidFill>
                  <a:srgbClr val="660E7A"/>
                </a:solidFill>
                <a:latin typeface="Consolas" panose="020B0609020204030204" pitchFamily="49" charset="0"/>
              </a:rPr>
              <a:t>B</a:t>
            </a: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[k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][j];</a:t>
            </a:r>
            <a:b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4230624" y="2017467"/>
            <a:ext cx="3742944" cy="2585323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en-US" sz="3200" b="1" smtClean="0">
                <a:solidFill>
                  <a:srgbClr val="00B050"/>
                </a:solidFill>
              </a:rPr>
              <a:t>Loop order: i, k, </a:t>
            </a:r>
            <a:r>
              <a:rPr lang="en-US" altLang="en-US" sz="3200" b="1">
                <a:solidFill>
                  <a:srgbClr val="00B050"/>
                </a:solidFill>
              </a:rPr>
              <a:t>j</a:t>
            </a:r>
            <a:endParaRPr lang="en-US" altLang="en-US" sz="3200" b="1" smtClean="0">
              <a:solidFill>
                <a:srgbClr val="00B050"/>
              </a:solidFill>
            </a:endParaRPr>
          </a:p>
          <a:p>
            <a:endParaRPr lang="en-US" altLang="en-US" b="1">
              <a:solidFill>
                <a:srgbClr val="000080"/>
              </a:solidFill>
              <a:latin typeface="Consolas" panose="020B0609020204030204" pitchFamily="49" charset="0"/>
            </a:endParaRPr>
          </a:p>
          <a:p>
            <a:r>
              <a:rPr lang="en-US" altLang="en-US" sz="1600" b="1" smtClean="0">
                <a:solidFill>
                  <a:srgbClr val="000080"/>
                </a:solidFill>
                <a:latin typeface="Consolas" panose="020B0609020204030204" pitchFamily="49" charset="0"/>
              </a:rPr>
              <a:t>for </a:t>
            </a:r>
            <a:r>
              <a:rPr lang="en-US" altLang="en-US" sz="160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1600" b="1">
                <a:solidFill>
                  <a:srgbClr val="000080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1600" smtClean="0">
                <a:solidFill>
                  <a:srgbClr val="000000"/>
                </a:solidFill>
                <a:latin typeface="Consolas" panose="020B0609020204030204" pitchFamily="49" charset="0"/>
              </a:rPr>
              <a:t>i= </a:t>
            </a:r>
            <a:r>
              <a:rPr lang="en-US" altLang="en-US" sz="160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160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altLang="en-US" sz="1600" smtClean="0">
                <a:solidFill>
                  <a:srgbClr val="000000"/>
                </a:solidFill>
                <a:latin typeface="Consolas" panose="020B0609020204030204" pitchFamily="49" charset="0"/>
              </a:rPr>
              <a:t>i &lt; </a:t>
            </a:r>
            <a:r>
              <a:rPr lang="en-US" altLang="en-US" sz="1600" b="1" i="1" smtClean="0">
                <a:solidFill>
                  <a:srgbClr val="660E7A"/>
                </a:solidFill>
                <a:latin typeface="Consolas" panose="020B0609020204030204" pitchFamily="49" charset="0"/>
              </a:rPr>
              <a:t>n</a:t>
            </a:r>
            <a:r>
              <a:rPr lang="en-US" altLang="en-US" sz="1600">
                <a:solidFill>
                  <a:srgbClr val="000000"/>
                </a:solidFill>
                <a:latin typeface="Consolas" panose="020B0609020204030204" pitchFamily="49" charset="0"/>
              </a:rPr>
              <a:t>; i++) {</a:t>
            </a:r>
            <a:br>
              <a:rPr lang="en-US" altLang="en-US" sz="160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6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60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600" b="1" smtClean="0">
                <a:solidFill>
                  <a:srgbClr val="000080"/>
                </a:solidFill>
                <a:latin typeface="Consolas" panose="020B0609020204030204" pitchFamily="49" charset="0"/>
              </a:rPr>
              <a:t>for </a:t>
            </a:r>
            <a:r>
              <a:rPr lang="en-US" altLang="en-US" sz="160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1600" b="1">
                <a:solidFill>
                  <a:srgbClr val="000080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1600" smtClean="0">
                <a:solidFill>
                  <a:srgbClr val="000000"/>
                </a:solidFill>
                <a:latin typeface="Consolas" panose="020B0609020204030204" pitchFamily="49" charset="0"/>
              </a:rPr>
              <a:t>k= </a:t>
            </a:r>
            <a:r>
              <a:rPr lang="en-US" altLang="en-US" sz="160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160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altLang="en-US" sz="1600" smtClean="0">
                <a:solidFill>
                  <a:srgbClr val="000000"/>
                </a:solidFill>
                <a:latin typeface="Consolas" panose="020B0609020204030204" pitchFamily="49" charset="0"/>
              </a:rPr>
              <a:t>k &lt; </a:t>
            </a:r>
            <a:r>
              <a:rPr lang="en-US" altLang="en-US" sz="1600" b="1" i="1" smtClean="0">
                <a:solidFill>
                  <a:srgbClr val="660E7A"/>
                </a:solidFill>
                <a:latin typeface="Consolas" panose="020B0609020204030204" pitchFamily="49" charset="0"/>
              </a:rPr>
              <a:t>n</a:t>
            </a:r>
            <a:r>
              <a:rPr lang="en-US" altLang="en-US" sz="160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altLang="en-US" sz="1600" smtClean="0">
                <a:solidFill>
                  <a:srgbClr val="000000"/>
                </a:solidFill>
                <a:latin typeface="Consolas" panose="020B0609020204030204" pitchFamily="49" charset="0"/>
              </a:rPr>
              <a:t>k++) </a:t>
            </a:r>
            <a:r>
              <a:rPr lang="en-US" altLang="en-US" sz="160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br>
              <a:rPr lang="en-US" altLang="en-US" sz="160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60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altLang="en-US" sz="160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600" b="1" smtClean="0">
                <a:solidFill>
                  <a:srgbClr val="000080"/>
                </a:solidFill>
                <a:latin typeface="Consolas" panose="020B0609020204030204" pitchFamily="49" charset="0"/>
              </a:rPr>
              <a:t>for </a:t>
            </a:r>
            <a:r>
              <a:rPr lang="en-US" altLang="en-US" sz="160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1600" b="1">
                <a:solidFill>
                  <a:srgbClr val="000080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1600" smtClean="0">
                <a:solidFill>
                  <a:srgbClr val="000000"/>
                </a:solidFill>
                <a:latin typeface="Consolas" panose="020B0609020204030204" pitchFamily="49" charset="0"/>
              </a:rPr>
              <a:t>j= </a:t>
            </a:r>
            <a:r>
              <a:rPr lang="en-US" altLang="en-US" sz="160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160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altLang="en-US" sz="1600" smtClean="0">
                <a:solidFill>
                  <a:srgbClr val="000000"/>
                </a:solidFill>
                <a:latin typeface="Consolas" panose="020B0609020204030204" pitchFamily="49" charset="0"/>
              </a:rPr>
              <a:t>j &lt; </a:t>
            </a:r>
            <a:r>
              <a:rPr lang="en-US" altLang="en-US" sz="1600" b="1" i="1" smtClean="0">
                <a:solidFill>
                  <a:srgbClr val="660E7A"/>
                </a:solidFill>
                <a:latin typeface="Consolas" panose="020B0609020204030204" pitchFamily="49" charset="0"/>
              </a:rPr>
              <a:t>n</a:t>
            </a:r>
            <a:r>
              <a:rPr lang="en-US" altLang="en-US" sz="160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altLang="en-US" sz="1600" smtClean="0">
                <a:solidFill>
                  <a:srgbClr val="000000"/>
                </a:solidFill>
                <a:latin typeface="Consolas" panose="020B0609020204030204" pitchFamily="49" charset="0"/>
              </a:rPr>
              <a:t>j++) </a:t>
            </a:r>
            <a:r>
              <a:rPr lang="en-US" altLang="en-US" sz="160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br>
              <a:rPr lang="en-US" altLang="en-US" sz="160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60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altLang="en-US" sz="1600" b="1" i="1" smtClean="0">
                <a:solidFill>
                  <a:srgbClr val="660E7A"/>
                </a:solidFill>
                <a:latin typeface="Consolas" panose="020B0609020204030204" pitchFamily="49" charset="0"/>
              </a:rPr>
              <a:t>C</a:t>
            </a:r>
            <a:r>
              <a:rPr lang="en-US" altLang="en-US" sz="1600" smtClean="0">
                <a:solidFill>
                  <a:srgbClr val="000000"/>
                </a:solidFill>
                <a:latin typeface="Consolas" panose="020B0609020204030204" pitchFamily="49" charset="0"/>
              </a:rPr>
              <a:t>[i</a:t>
            </a:r>
            <a:r>
              <a:rPr lang="en-US" altLang="en-US" sz="1600">
                <a:solidFill>
                  <a:srgbClr val="000000"/>
                </a:solidFill>
                <a:latin typeface="Consolas" panose="020B0609020204030204" pitchFamily="49" charset="0"/>
              </a:rPr>
              <a:t>][j</a:t>
            </a:r>
            <a:r>
              <a:rPr lang="en-US" altLang="en-US" sz="1600" smtClean="0">
                <a:solidFill>
                  <a:srgbClr val="000000"/>
                </a:solidFill>
                <a:latin typeface="Consolas" panose="020B0609020204030204" pitchFamily="49" charset="0"/>
              </a:rPr>
              <a:t>]+= </a:t>
            </a:r>
            <a:r>
              <a:rPr lang="en-US" altLang="en-US" sz="1600" b="1" i="1">
                <a:solidFill>
                  <a:srgbClr val="660E7A"/>
                </a:solidFill>
                <a:latin typeface="Consolas" panose="020B0609020204030204" pitchFamily="49" charset="0"/>
              </a:rPr>
              <a:t>A</a:t>
            </a:r>
            <a:r>
              <a:rPr lang="en-US" altLang="en-US" sz="1600">
                <a:solidFill>
                  <a:srgbClr val="000000"/>
                </a:solidFill>
                <a:latin typeface="Consolas" panose="020B0609020204030204" pitchFamily="49" charset="0"/>
              </a:rPr>
              <a:t>[i][k</a:t>
            </a:r>
            <a:r>
              <a:rPr lang="en-US" altLang="en-US" sz="1600" smtClean="0">
                <a:solidFill>
                  <a:srgbClr val="000000"/>
                </a:solidFill>
                <a:latin typeface="Consolas" panose="020B0609020204030204" pitchFamily="49" charset="0"/>
              </a:rPr>
              <a:t>]*</a:t>
            </a:r>
            <a:r>
              <a:rPr lang="en-US" altLang="en-US" sz="1600" b="1" i="1" smtClean="0">
                <a:solidFill>
                  <a:srgbClr val="660E7A"/>
                </a:solidFill>
                <a:latin typeface="Consolas" panose="020B0609020204030204" pitchFamily="49" charset="0"/>
              </a:rPr>
              <a:t>B</a:t>
            </a:r>
            <a:r>
              <a:rPr lang="en-US" altLang="en-US" sz="1600" smtClean="0">
                <a:solidFill>
                  <a:srgbClr val="000000"/>
                </a:solidFill>
                <a:latin typeface="Consolas" panose="020B0609020204030204" pitchFamily="49" charset="0"/>
              </a:rPr>
              <a:t>[k</a:t>
            </a:r>
            <a:r>
              <a:rPr lang="en-US" altLang="en-US" sz="1600">
                <a:solidFill>
                  <a:srgbClr val="000000"/>
                </a:solidFill>
                <a:latin typeface="Consolas" panose="020B0609020204030204" pitchFamily="49" charset="0"/>
              </a:rPr>
              <a:t>][j];</a:t>
            </a:r>
            <a:br>
              <a:rPr lang="en-US" altLang="en-US" sz="160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60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1600" smtClean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en-US" altLang="en-US" sz="160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altLang="en-US" sz="160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60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altLang="en-US" sz="1600" smtClean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en-US" altLang="en-US" sz="160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altLang="en-US" sz="160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600" smtClean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600"/>
          </a:p>
        </p:txBody>
      </p:sp>
      <p:sp>
        <p:nvSpPr>
          <p:cNvPr id="7" name="Rectangle 6"/>
          <p:cNvSpPr/>
          <p:nvPr/>
        </p:nvSpPr>
        <p:spPr>
          <a:xfrm>
            <a:off x="8129016" y="2023563"/>
            <a:ext cx="3749040" cy="2585323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en-US" sz="3200" b="1" dirty="0" smtClean="0">
                <a:solidFill>
                  <a:srgbClr val="FF0000"/>
                </a:solidFill>
              </a:rPr>
              <a:t>Loop order: j, k, </a:t>
            </a:r>
            <a:r>
              <a:rPr lang="en-US" altLang="en-US" sz="3200" b="1" dirty="0" err="1" smtClean="0">
                <a:solidFill>
                  <a:srgbClr val="FF0000"/>
                </a:solidFill>
              </a:rPr>
              <a:t>i</a:t>
            </a:r>
            <a:endParaRPr lang="en-US" altLang="en-US" sz="3200" b="1" dirty="0" smtClean="0">
              <a:solidFill>
                <a:srgbClr val="FF0000"/>
              </a:solidFill>
            </a:endParaRPr>
          </a:p>
          <a:p>
            <a:endParaRPr lang="en-US" altLang="en-US" b="1" dirty="0">
              <a:solidFill>
                <a:srgbClr val="000080"/>
              </a:solidFill>
              <a:latin typeface="Consolas" panose="020B0609020204030204" pitchFamily="49" charset="0"/>
            </a:endParaRPr>
          </a:p>
          <a:p>
            <a:r>
              <a:rPr lang="en-US" altLang="en-US" sz="1600" b="1" dirty="0" smtClean="0">
                <a:solidFill>
                  <a:srgbClr val="000080"/>
                </a:solidFill>
                <a:latin typeface="Consolas" panose="020B0609020204030204" pitchFamily="49" charset="0"/>
              </a:rPr>
              <a:t>for 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1600" b="1" dirty="0" err="1">
                <a:solidFill>
                  <a:srgbClr val="000080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1600" b="1" dirty="0">
                <a:solidFill>
                  <a:srgbClr val="00008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j= </a:t>
            </a:r>
            <a:r>
              <a:rPr lang="en-US" alt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j &lt; </a:t>
            </a:r>
            <a:r>
              <a:rPr lang="en-US" altLang="en-US" sz="1600" b="1" i="1" dirty="0" smtClean="0">
                <a:solidFill>
                  <a:srgbClr val="660E7A"/>
                </a:solidFill>
                <a:latin typeface="Consolas" panose="020B0609020204030204" pitchFamily="49" charset="0"/>
              </a:rPr>
              <a:t>n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j++) 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b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600" b="1" dirty="0" smtClean="0">
                <a:solidFill>
                  <a:srgbClr val="000080"/>
                </a:solidFill>
                <a:latin typeface="Consolas" panose="020B0609020204030204" pitchFamily="49" charset="0"/>
              </a:rPr>
              <a:t>for 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1600" b="1" dirty="0" err="1">
                <a:solidFill>
                  <a:srgbClr val="000080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1600" b="1">
                <a:solidFill>
                  <a:srgbClr val="00008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600" smtClean="0">
                <a:solidFill>
                  <a:srgbClr val="000000"/>
                </a:solidFill>
                <a:latin typeface="Consolas" panose="020B0609020204030204" pitchFamily="49" charset="0"/>
              </a:rPr>
              <a:t>k= </a:t>
            </a:r>
            <a:r>
              <a:rPr lang="en-US" alt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160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altLang="en-US" sz="1600" smtClean="0">
                <a:solidFill>
                  <a:srgbClr val="000000"/>
                </a:solidFill>
                <a:latin typeface="Consolas" panose="020B0609020204030204" pitchFamily="49" charset="0"/>
              </a:rPr>
              <a:t>k </a:t>
            </a: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&lt; </a:t>
            </a:r>
            <a:r>
              <a:rPr lang="en-US" altLang="en-US" sz="1600" b="1" i="1" dirty="0" smtClean="0">
                <a:solidFill>
                  <a:srgbClr val="660E7A"/>
                </a:solidFill>
                <a:latin typeface="Consolas" panose="020B0609020204030204" pitchFamily="49" charset="0"/>
              </a:rPr>
              <a:t>n</a:t>
            </a:r>
            <a:r>
              <a:rPr lang="en-US" altLang="en-US" sz="160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altLang="en-US" sz="1600" smtClean="0">
                <a:solidFill>
                  <a:srgbClr val="000000"/>
                </a:solidFill>
                <a:latin typeface="Consolas" panose="020B0609020204030204" pitchFamily="49" charset="0"/>
              </a:rPr>
              <a:t>k++) 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b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600" b="1" dirty="0" smtClean="0">
                <a:solidFill>
                  <a:srgbClr val="000080"/>
                </a:solidFill>
                <a:latin typeface="Consolas" panose="020B0609020204030204" pitchFamily="49" charset="0"/>
              </a:rPr>
              <a:t>for 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1600" b="1" dirty="0" err="1">
                <a:solidFill>
                  <a:srgbClr val="000080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1600" b="1" dirty="0">
                <a:solidFill>
                  <a:srgbClr val="00008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1600" dirty="0" err="1" smtClean="0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altLang="en-US" sz="1600" dirty="0" err="1" smtClean="0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US" altLang="en-US" sz="1600" b="1" i="1" dirty="0" smtClean="0">
                <a:solidFill>
                  <a:srgbClr val="660E7A"/>
                </a:solidFill>
                <a:latin typeface="Consolas" panose="020B0609020204030204" pitchFamily="49" charset="0"/>
              </a:rPr>
              <a:t>n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altLang="en-US" sz="1600" dirty="0" err="1" smtClean="0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++) 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b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altLang="en-US" sz="1600" b="1" i="1" dirty="0" smtClean="0">
                <a:solidFill>
                  <a:srgbClr val="660E7A"/>
                </a:solidFill>
                <a:latin typeface="Consolas" panose="020B0609020204030204" pitchFamily="49" charset="0"/>
              </a:rPr>
              <a:t>C</a:t>
            </a: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1600" dirty="0" err="1" smtClean="0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][j</a:t>
            </a: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]+= </a:t>
            </a:r>
            <a:r>
              <a:rPr lang="en-US" altLang="en-US" sz="1600" b="1" i="1" dirty="0">
                <a:solidFill>
                  <a:srgbClr val="660E7A"/>
                </a:solidFill>
                <a:latin typeface="Consolas" panose="020B0609020204030204" pitchFamily="49" charset="0"/>
              </a:rPr>
              <a:t>A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][k</a:t>
            </a: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]*</a:t>
            </a:r>
            <a:r>
              <a:rPr lang="en-US" altLang="en-US" sz="1600" b="1" i="1" dirty="0" smtClean="0">
                <a:solidFill>
                  <a:srgbClr val="660E7A"/>
                </a:solidFill>
                <a:latin typeface="Consolas" panose="020B0609020204030204" pitchFamily="49" charset="0"/>
              </a:rPr>
              <a:t>B</a:t>
            </a: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[k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][j];</a:t>
            </a:r>
            <a:b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alt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16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600" dirty="0"/>
          </a:p>
        </p:txBody>
      </p:sp>
      <p:sp>
        <p:nvSpPr>
          <p:cNvPr id="8" name="Rectangle 7"/>
          <p:cNvSpPr/>
          <p:nvPr/>
        </p:nvSpPr>
        <p:spPr>
          <a:xfrm>
            <a:off x="1071372" y="4739792"/>
            <a:ext cx="2289048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lang="en-US" sz="2400" b="1">
                <a:solidFill>
                  <a:srgbClr val="1E3272"/>
                </a:solidFill>
              </a:rPr>
              <a:t>Running time:</a:t>
            </a:r>
          </a:p>
          <a:p>
            <a:r>
              <a:rPr lang="en-US" sz="2400">
                <a:solidFill>
                  <a:srgbClr val="1E3272"/>
                </a:solidFill>
              </a:rPr>
              <a:t>13.714264 sec.</a:t>
            </a:r>
          </a:p>
          <a:p>
            <a:r>
              <a:rPr lang="en-US" sz="2400" b="1">
                <a:solidFill>
                  <a:srgbClr val="1E3272"/>
                </a:solidFill>
              </a:rPr>
              <a:t>Performance</a:t>
            </a:r>
            <a:r>
              <a:rPr lang="en-US" sz="2400" b="1" smtClean="0">
                <a:solidFill>
                  <a:srgbClr val="1E3272"/>
                </a:solidFill>
              </a:rPr>
              <a:t>:</a:t>
            </a:r>
          </a:p>
          <a:p>
            <a:r>
              <a:rPr lang="en-US" sz="2400" smtClean="0">
                <a:solidFill>
                  <a:srgbClr val="1E3272"/>
                </a:solidFill>
              </a:rPr>
              <a:t>~ </a:t>
            </a:r>
            <a:r>
              <a:rPr lang="en-US" sz="2400">
                <a:solidFill>
                  <a:srgbClr val="1E3272"/>
                </a:solidFill>
              </a:rPr>
              <a:t>153 MFLOPS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12436" y="4739792"/>
            <a:ext cx="2167128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lang="en-US" sz="2400" b="1">
                <a:solidFill>
                  <a:srgbClr val="00B050"/>
                </a:solidFill>
              </a:rPr>
              <a:t>Running time:</a:t>
            </a:r>
          </a:p>
          <a:p>
            <a:r>
              <a:rPr lang="en-US" sz="2400">
                <a:solidFill>
                  <a:srgbClr val="00B050"/>
                </a:solidFill>
              </a:rPr>
              <a:t>2.739385 sec.</a:t>
            </a:r>
          </a:p>
          <a:p>
            <a:r>
              <a:rPr lang="en-US" sz="2400" b="1">
                <a:solidFill>
                  <a:srgbClr val="00B050"/>
                </a:solidFill>
              </a:rPr>
              <a:t>Performance</a:t>
            </a:r>
            <a:r>
              <a:rPr lang="en-US" sz="2400" b="1" smtClean="0">
                <a:solidFill>
                  <a:srgbClr val="00B050"/>
                </a:solidFill>
              </a:rPr>
              <a:t>:</a:t>
            </a:r>
          </a:p>
          <a:p>
            <a:r>
              <a:rPr lang="en-US" sz="2400">
                <a:solidFill>
                  <a:srgbClr val="00B050"/>
                </a:solidFill>
              </a:rPr>
              <a:t>~ 795 MFLOPS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11768" y="4757153"/>
            <a:ext cx="2383536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</a:pPr>
            <a:r>
              <a:rPr lang="en-US" sz="2400" b="1">
                <a:solidFill>
                  <a:srgbClr val="FF0000"/>
                </a:solidFill>
              </a:rPr>
              <a:t>Running time:</a:t>
            </a:r>
          </a:p>
          <a:p>
            <a:r>
              <a:rPr lang="en-US" sz="2400">
                <a:solidFill>
                  <a:srgbClr val="FF0000"/>
                </a:solidFill>
              </a:rPr>
              <a:t>19.074106 sec.</a:t>
            </a:r>
          </a:p>
          <a:p>
            <a:r>
              <a:rPr lang="en-US" sz="2400" b="1">
                <a:solidFill>
                  <a:srgbClr val="FF0000"/>
                </a:solidFill>
              </a:rPr>
              <a:t>Performance</a:t>
            </a:r>
            <a:r>
              <a:rPr lang="en-US" sz="2400" b="1" smtClean="0">
                <a:solidFill>
                  <a:srgbClr val="FF0000"/>
                </a:solidFill>
              </a:rPr>
              <a:t>:</a:t>
            </a:r>
          </a:p>
          <a:p>
            <a:r>
              <a:rPr lang="en-US" sz="2400">
                <a:solidFill>
                  <a:srgbClr val="FF0000"/>
                </a:solidFill>
              </a:rPr>
              <a:t>~ 113 MFLOPS</a:t>
            </a:r>
          </a:p>
        </p:txBody>
      </p:sp>
    </p:spTree>
    <p:extLst>
      <p:ext uri="{BB962C8B-B14F-4D97-AF65-F5344CB8AC3E}">
        <p14:creationId xmlns:p14="http://schemas.microsoft.com/office/powerpoint/2010/main" xmlns="" val="28088213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xmlns="" val="2853019934"/>
              </p:ext>
            </p:extLst>
          </p:nvPr>
        </p:nvGraphicFramePr>
        <p:xfrm>
          <a:off x="1981200" y="1164336"/>
          <a:ext cx="8229600" cy="45835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99288">
                <a:tc>
                  <a:txBody>
                    <a:bodyPr/>
                    <a:lstStyle/>
                    <a:p>
                      <a:r>
                        <a:rPr lang="en-US" sz="2800" smtClean="0">
                          <a:solidFill>
                            <a:srgbClr val="F7B217"/>
                          </a:solidFill>
                        </a:rPr>
                        <a:t>Feature</a:t>
                      </a:r>
                      <a:endParaRPr lang="en-US" sz="2800">
                        <a:solidFill>
                          <a:srgbClr val="F7B217"/>
                        </a:solidFill>
                      </a:endParaRPr>
                    </a:p>
                  </a:txBody>
                  <a:tcPr>
                    <a:solidFill>
                      <a:srgbClr val="2F5C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smtClean="0">
                          <a:solidFill>
                            <a:srgbClr val="F7B217"/>
                          </a:solidFill>
                        </a:rPr>
                        <a:t>Specifiction</a:t>
                      </a:r>
                      <a:endParaRPr lang="en-US" sz="2800">
                        <a:solidFill>
                          <a:srgbClr val="F7B217"/>
                        </a:solidFill>
                      </a:endParaRPr>
                    </a:p>
                  </a:txBody>
                  <a:tcPr>
                    <a:solidFill>
                      <a:srgbClr val="2F5CB5"/>
                    </a:solidFill>
                  </a:tcPr>
                </a:tc>
              </a:tr>
              <a:tr h="319191">
                <a:tc>
                  <a:txBody>
                    <a:bodyPr/>
                    <a:lstStyle/>
                    <a:p>
                      <a:r>
                        <a:rPr lang="en-US" sz="2000" smtClean="0"/>
                        <a:t>Model</a:t>
                      </a:r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smtClean="0"/>
                        <a:t>MacBook Pro 9,1</a:t>
                      </a:r>
                      <a:endParaRPr lang="en-US" sz="2000"/>
                    </a:p>
                  </a:txBody>
                  <a:tcPr/>
                </a:tc>
              </a:tr>
              <a:tr h="273471">
                <a:tc>
                  <a:txBody>
                    <a:bodyPr/>
                    <a:lstStyle/>
                    <a:p>
                      <a:r>
                        <a:rPr lang="en-US" sz="2000" smtClean="0"/>
                        <a:t>Processor Name</a:t>
                      </a:r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smtClean="0"/>
                        <a:t>Quad-Core Intel Core i7</a:t>
                      </a:r>
                      <a:endParaRPr lang="en-US" sz="2000"/>
                    </a:p>
                  </a:txBody>
                  <a:tcPr/>
                </a:tc>
              </a:tr>
              <a:tr h="453649">
                <a:tc>
                  <a:txBody>
                    <a:bodyPr/>
                    <a:lstStyle/>
                    <a:p>
                      <a:r>
                        <a:rPr lang="en-US" sz="2000" smtClean="0"/>
                        <a:t>Processor Speed</a:t>
                      </a:r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smtClean="0"/>
                        <a:t>2,3 GHz</a:t>
                      </a:r>
                      <a:endParaRPr lang="en-US" sz="2000"/>
                    </a:p>
                  </a:txBody>
                  <a:tcPr/>
                </a:tc>
              </a:tr>
              <a:tr h="273471">
                <a:tc>
                  <a:txBody>
                    <a:bodyPr/>
                    <a:lstStyle/>
                    <a:p>
                      <a:r>
                        <a:rPr lang="en-US" sz="2000" smtClean="0"/>
                        <a:t>Number of Processors</a:t>
                      </a:r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smtClean="0"/>
                        <a:t>1</a:t>
                      </a:r>
                      <a:endParaRPr lang="en-US" sz="2000"/>
                    </a:p>
                  </a:txBody>
                  <a:tcPr/>
                </a:tc>
              </a:tr>
              <a:tr h="236895">
                <a:tc>
                  <a:txBody>
                    <a:bodyPr/>
                    <a:lstStyle/>
                    <a:p>
                      <a:r>
                        <a:rPr lang="en-US" sz="2000" smtClean="0"/>
                        <a:t>Total Number of Cores</a:t>
                      </a:r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smtClean="0"/>
                        <a:t>4</a:t>
                      </a:r>
                      <a:endParaRPr lang="en-US" sz="2000"/>
                    </a:p>
                  </a:txBody>
                  <a:tcPr/>
                </a:tc>
              </a:tr>
              <a:tr h="209463">
                <a:tc>
                  <a:txBody>
                    <a:bodyPr/>
                    <a:lstStyle/>
                    <a:p>
                      <a:r>
                        <a:rPr lang="en-US" sz="2000" smtClean="0"/>
                        <a:t>Floating-Point Operations per Cycle</a:t>
                      </a:r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smtClean="0"/>
                        <a:t>4</a:t>
                      </a:r>
                      <a:endParaRPr lang="en-US" sz="2000"/>
                    </a:p>
                  </a:txBody>
                  <a:tcPr/>
                </a:tc>
              </a:tr>
              <a:tr h="209463">
                <a:tc>
                  <a:txBody>
                    <a:bodyPr/>
                    <a:lstStyle/>
                    <a:p>
                      <a:r>
                        <a:rPr lang="en-US" sz="2000" smtClean="0"/>
                        <a:t>L2 Cache (per Core)</a:t>
                      </a:r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smtClean="0"/>
                        <a:t>256 KB</a:t>
                      </a:r>
                      <a:endParaRPr lang="en-US" sz="2000"/>
                    </a:p>
                  </a:txBody>
                  <a:tcPr/>
                </a:tc>
              </a:tr>
              <a:tr h="236895">
                <a:tc>
                  <a:txBody>
                    <a:bodyPr/>
                    <a:lstStyle/>
                    <a:p>
                      <a:r>
                        <a:rPr lang="en-US" sz="2000" smtClean="0"/>
                        <a:t>L3 Cache:</a:t>
                      </a:r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smtClean="0"/>
                        <a:t>6 MB</a:t>
                      </a:r>
                      <a:endParaRPr lang="en-US" sz="2000"/>
                    </a:p>
                  </a:txBody>
                  <a:tcPr/>
                </a:tc>
              </a:tr>
              <a:tr h="441865">
                <a:tc>
                  <a:txBody>
                    <a:bodyPr/>
                    <a:lstStyle/>
                    <a:p>
                      <a:r>
                        <a:rPr lang="en-US" sz="2000" smtClean="0"/>
                        <a:t>Hyper-Threading Technology</a:t>
                      </a:r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smtClean="0"/>
                        <a:t>Enabled</a:t>
                      </a:r>
                      <a:endParaRPr lang="en-US" sz="2000"/>
                    </a:p>
                  </a:txBody>
                  <a:tcPr/>
                </a:tc>
              </a:tr>
              <a:tr h="310047">
                <a:tc>
                  <a:txBody>
                    <a:bodyPr/>
                    <a:lstStyle/>
                    <a:p>
                      <a:r>
                        <a:rPr lang="en-US" sz="2000" smtClean="0"/>
                        <a:t>Memory</a:t>
                      </a:r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8 GB</a:t>
                      </a:r>
                      <a:endParaRPr lang="en-US" sz="20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1397BFD8-F312-4EF2-A268-44FB4BDDBBB0}" type="slidenum">
              <a:rPr lang="ru-RU" smtClean="0"/>
              <a:pPr algn="ctr"/>
              <a:t>11</a:t>
            </a:fld>
            <a:endParaRPr lang="ru-R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Example: </a:t>
            </a:r>
            <a:r>
              <a:rPr lang="en-US"/>
              <a:t>Matrix Multiplication (part </a:t>
            </a:r>
            <a:r>
              <a:rPr lang="en-US" smtClean="0"/>
              <a:t>5)</a:t>
            </a:r>
            <a:endParaRPr lang="en-US"/>
          </a:p>
        </p:txBody>
      </p:sp>
      <mc:AlternateContent xmlns:mc="http://schemas.openxmlformats.org/markup-compatibility/2006">
        <mc:Choice xmlns:a14="http://schemas.microsoft.com/office/drawing/2010/main" xmlns="" Requires="a14">
          <p:sp>
            <p:nvSpPr>
              <p:cNvPr id="6" name="Rectangle 5"/>
              <p:cNvSpPr/>
              <p:nvPr/>
            </p:nvSpPr>
            <p:spPr>
              <a:xfrm>
                <a:off x="1981200" y="5818188"/>
                <a:ext cx="8229600" cy="630173"/>
              </a:xfrm>
              <a:prstGeom prst="rect">
                <a:avLst/>
              </a:prstGeom>
              <a:solidFill>
                <a:srgbClr val="F7B217"/>
              </a:solidFill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3200" b="1" smtClean="0">
                    <a:solidFill>
                      <a:srgbClr val="1E3272"/>
                    </a:solidFill>
                  </a:rPr>
                  <a:t>Peak =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200" b="1" i="1">
                            <a:solidFill>
                              <a:srgbClr val="1E327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1" i="1" smtClean="0">
                            <a:solidFill>
                              <a:srgbClr val="1E3272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sz="3200" b="1" i="1" smtClean="0">
                            <a:solidFill>
                              <a:srgbClr val="1E3272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3200" b="1" i="1" smtClean="0">
                            <a:solidFill>
                              <a:srgbClr val="1E3272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  <m:r>
                          <a:rPr lang="en-US" sz="3200" b="1" i="1" smtClean="0">
                            <a:solidFill>
                              <a:srgbClr val="1E3272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a:rPr lang="en-US" sz="3200" b="1" i="1" smtClean="0">
                            <a:solidFill>
                              <a:srgbClr val="1E3272"/>
                            </a:solidFill>
                            <a:latin typeface="Cambria Math" panose="02040503050406030204" pitchFamily="18" charset="0"/>
                          </a:rPr>
                          <m:t>𝟏𝟎</m:t>
                        </m:r>
                      </m:e>
                      <m:sup>
                        <m:r>
                          <a:rPr lang="en-US" sz="3200" b="1" i="1" smtClean="0">
                            <a:solidFill>
                              <a:srgbClr val="1E3272"/>
                            </a:solidFill>
                            <a:latin typeface="Cambria Math" panose="02040503050406030204" pitchFamily="18" charset="0"/>
                          </a:rPr>
                          <m:t>𝟗</m:t>
                        </m:r>
                      </m:sup>
                    </m:sSup>
                  </m:oMath>
                </a14:m>
                <a:r>
                  <a:rPr lang="en-US" sz="3200" b="1">
                    <a:solidFill>
                      <a:srgbClr val="1E3272"/>
                    </a:solidFill>
                  </a:rPr>
                  <a:t>) </a:t>
                </a:r>
                <a:r>
                  <a:rPr lang="en-US" sz="3200" b="1" smtClean="0">
                    <a:solidFill>
                      <a:srgbClr val="1E3272"/>
                    </a:solidFill>
                  </a:rPr>
                  <a:t>* 1 * 4 * 4 </a:t>
                </a:r>
                <a:r>
                  <a:rPr lang="en-US" sz="3200" b="1">
                    <a:solidFill>
                      <a:srgbClr val="1E3272"/>
                    </a:solidFill>
                  </a:rPr>
                  <a:t>= </a:t>
                </a:r>
                <a:r>
                  <a:rPr lang="en-US" sz="3200" b="1" smtClean="0">
                    <a:solidFill>
                      <a:srgbClr val="1E3272"/>
                    </a:solidFill>
                  </a:rPr>
                  <a:t>36 800 MFLOPS</a:t>
                </a:r>
                <a:endParaRPr lang="en-US" sz="3200" b="1">
                  <a:solidFill>
                    <a:srgbClr val="1E3272"/>
                  </a:solidFill>
                </a:endParaRPr>
              </a:p>
            </p:txBody>
          </p:sp>
        </mc:Choice>
        <mc:Fallback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200" y="5818188"/>
                <a:ext cx="8229600" cy="630173"/>
              </a:xfrm>
              <a:prstGeom prst="rect">
                <a:avLst/>
              </a:prstGeom>
              <a:blipFill rotWithShape="0">
                <a:blip r:embed="rId2" cstate="print"/>
                <a:stretch>
                  <a:fillRect l="-1185" t="-4808" r="-118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xmlns="" val="13198788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1397BFD8-F312-4EF2-A268-44FB4BDDBBB0}" type="slidenum">
              <a:rPr lang="ru-RU" smtClean="0"/>
              <a:pPr algn="ctr"/>
              <a:t>12</a:t>
            </a:fld>
            <a:endParaRPr lang="ru-R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affects performance?</a:t>
            </a:r>
            <a:endParaRPr lang="en-US" dirty="0"/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xmlns="" val="895195415"/>
              </p:ext>
            </p:extLst>
          </p:nvPr>
        </p:nvGraphicFramePr>
        <p:xfrm>
          <a:off x="1206333" y="1298448"/>
          <a:ext cx="9766467" cy="454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30459"/>
                <a:gridCol w="4636008"/>
              </a:tblGrid>
              <a:tr h="393193">
                <a:tc>
                  <a:txBody>
                    <a:bodyPr/>
                    <a:lstStyle/>
                    <a:p>
                      <a:r>
                        <a:rPr lang="en-US" sz="2800" dirty="0" smtClean="0">
                          <a:solidFill>
                            <a:srgbClr val="F7B217"/>
                          </a:solidFill>
                        </a:rPr>
                        <a:t>Hardware/</a:t>
                      </a:r>
                      <a:r>
                        <a:rPr lang="en-US" sz="2800" baseline="0" dirty="0" smtClean="0">
                          <a:solidFill>
                            <a:srgbClr val="F7B217"/>
                          </a:solidFill>
                        </a:rPr>
                        <a:t>Software Component</a:t>
                      </a:r>
                      <a:endParaRPr lang="en-US" sz="2800" dirty="0">
                        <a:solidFill>
                          <a:srgbClr val="F7B217"/>
                        </a:solidFill>
                      </a:endParaRPr>
                    </a:p>
                  </a:txBody>
                  <a:tcPr>
                    <a:solidFill>
                      <a:srgbClr val="2F5C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 smtClean="0">
                          <a:solidFill>
                            <a:srgbClr val="F7B217"/>
                          </a:solidFill>
                        </a:rPr>
                        <a:t>How It Affects Performance</a:t>
                      </a:r>
                      <a:endParaRPr lang="en-US" sz="2800" dirty="0">
                        <a:solidFill>
                          <a:srgbClr val="F7B217"/>
                        </a:solidFill>
                      </a:endParaRPr>
                    </a:p>
                  </a:txBody>
                  <a:tcPr>
                    <a:solidFill>
                      <a:srgbClr val="2F5CB5"/>
                    </a:solidFill>
                  </a:tcPr>
                </a:tc>
              </a:tr>
              <a:tr h="1187149">
                <a:tc>
                  <a:txBody>
                    <a:bodyPr/>
                    <a:lstStyle/>
                    <a:p>
                      <a:r>
                        <a:rPr lang="en-US" sz="2400" b="1" dirty="0" smtClean="0">
                          <a:solidFill>
                            <a:srgbClr val="273272"/>
                          </a:solidFill>
                        </a:rPr>
                        <a:t>Algorithm</a:t>
                      </a:r>
                      <a:endParaRPr lang="en-US" sz="2400" b="1" dirty="0">
                        <a:solidFill>
                          <a:srgbClr val="27327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 smtClean="0">
                          <a:solidFill>
                            <a:srgbClr val="273272"/>
                          </a:solidFill>
                        </a:rPr>
                        <a:t>Determines</a:t>
                      </a:r>
                      <a:r>
                        <a:rPr lang="en-US" sz="2400" baseline="0" dirty="0" smtClean="0">
                          <a:solidFill>
                            <a:srgbClr val="273272"/>
                          </a:solidFill>
                        </a:rPr>
                        <a:t> both the number of source-level statements and the number of I/O operations executed</a:t>
                      </a:r>
                      <a:endParaRPr lang="en-US" sz="2400" dirty="0" smtClean="0">
                        <a:solidFill>
                          <a:srgbClr val="273272"/>
                        </a:solidFill>
                      </a:endParaRPr>
                    </a:p>
                  </a:txBody>
                  <a:tcPr/>
                </a:tc>
              </a:tr>
              <a:tr h="1187149">
                <a:tc>
                  <a:txBody>
                    <a:bodyPr/>
                    <a:lstStyle/>
                    <a:p>
                      <a:r>
                        <a:rPr lang="en-US" sz="2400" b="1" dirty="0" smtClean="0">
                          <a:solidFill>
                            <a:srgbClr val="273272"/>
                          </a:solidFill>
                        </a:rPr>
                        <a:t>Programming</a:t>
                      </a:r>
                      <a:r>
                        <a:rPr lang="en-US" sz="2400" b="1" baseline="0" dirty="0" smtClean="0">
                          <a:solidFill>
                            <a:srgbClr val="273272"/>
                          </a:solidFill>
                        </a:rPr>
                        <a:t> Language, Compiler, and Architecture</a:t>
                      </a:r>
                      <a:endParaRPr lang="en-US" sz="2400" b="1" dirty="0">
                        <a:solidFill>
                          <a:srgbClr val="27327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 smtClean="0">
                          <a:solidFill>
                            <a:srgbClr val="273272"/>
                          </a:solidFill>
                        </a:rPr>
                        <a:t>Determines the number of computer instructions for each source-level statement</a:t>
                      </a:r>
                      <a:endParaRPr lang="en-US" sz="2400" dirty="0">
                        <a:solidFill>
                          <a:srgbClr val="273272"/>
                        </a:solidFill>
                      </a:endParaRPr>
                    </a:p>
                  </a:txBody>
                  <a:tcPr/>
                </a:tc>
              </a:tr>
              <a:tr h="821872">
                <a:tc>
                  <a:txBody>
                    <a:bodyPr/>
                    <a:lstStyle/>
                    <a:p>
                      <a:r>
                        <a:rPr lang="en-US" sz="2400" b="1" dirty="0" smtClean="0">
                          <a:solidFill>
                            <a:srgbClr val="273272"/>
                          </a:solidFill>
                        </a:rPr>
                        <a:t>Processor and Memory System</a:t>
                      </a:r>
                      <a:endParaRPr lang="en-US" sz="2400" b="1" dirty="0">
                        <a:solidFill>
                          <a:srgbClr val="27327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 smtClean="0">
                          <a:solidFill>
                            <a:srgbClr val="273272"/>
                          </a:solidFill>
                        </a:rPr>
                        <a:t>Determines</a:t>
                      </a:r>
                      <a:r>
                        <a:rPr lang="en-US" sz="2400" baseline="0" dirty="0" smtClean="0">
                          <a:solidFill>
                            <a:srgbClr val="273272"/>
                          </a:solidFill>
                        </a:rPr>
                        <a:t> how fast instructions can be executed</a:t>
                      </a:r>
                      <a:endParaRPr lang="en-US" sz="2400" dirty="0">
                        <a:solidFill>
                          <a:srgbClr val="273272"/>
                        </a:solidFill>
                      </a:endParaRPr>
                    </a:p>
                  </a:txBody>
                  <a:tcPr/>
                </a:tc>
              </a:tr>
              <a:tr h="821872">
                <a:tc>
                  <a:txBody>
                    <a:bodyPr/>
                    <a:lstStyle/>
                    <a:p>
                      <a:r>
                        <a:rPr lang="en-US" sz="2400" b="1" dirty="0" smtClean="0">
                          <a:solidFill>
                            <a:srgbClr val="273272"/>
                          </a:solidFill>
                        </a:rPr>
                        <a:t>I/O System (Hardware and Operating System)</a:t>
                      </a:r>
                      <a:endParaRPr lang="en-US" sz="2400" b="1" dirty="0">
                        <a:solidFill>
                          <a:srgbClr val="273272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 smtClean="0">
                          <a:solidFill>
                            <a:srgbClr val="273272"/>
                          </a:solidFill>
                        </a:rPr>
                        <a:t>Determines</a:t>
                      </a:r>
                      <a:r>
                        <a:rPr lang="en-US" sz="2400" baseline="0" dirty="0" smtClean="0">
                          <a:solidFill>
                            <a:srgbClr val="273272"/>
                          </a:solidFill>
                        </a:rPr>
                        <a:t> how fast I/O operations may be executed</a:t>
                      </a:r>
                      <a:endParaRPr lang="en-US" sz="2400" dirty="0">
                        <a:solidFill>
                          <a:srgbClr val="273272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xmlns="" val="1991606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838202" y="1178053"/>
            <a:ext cx="6119190" cy="5093538"/>
          </a:xfrm>
        </p:spPr>
        <p:txBody>
          <a:bodyPr>
            <a:noAutofit/>
          </a:bodyPr>
          <a:lstStyle/>
          <a:p>
            <a:r>
              <a:rPr lang="en-US" dirty="0" smtClean="0"/>
              <a:t>1834–71: Analytical Engine designed </a:t>
            </a:r>
            <a:r>
              <a:rPr lang="en-US" dirty="0"/>
              <a:t>by Charles </a:t>
            </a:r>
            <a:r>
              <a:rPr lang="en-US" dirty="0" smtClean="0"/>
              <a:t>Babbage</a:t>
            </a:r>
          </a:p>
          <a:p>
            <a:r>
              <a:rPr lang="en-US" dirty="0" smtClean="0"/>
              <a:t>Mechanical gears, where each gear represented a discrete value (0-9)</a:t>
            </a:r>
          </a:p>
          <a:p>
            <a:r>
              <a:rPr lang="en-US" dirty="0" smtClean="0"/>
              <a:t>Programs provided as punched cards</a:t>
            </a:r>
            <a:endParaRPr lang="en-US" dirty="0"/>
          </a:p>
          <a:p>
            <a:r>
              <a:rPr lang="en-US" dirty="0" smtClean="0"/>
              <a:t>Never finished due to technological restrictions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1397BFD8-F312-4EF2-A268-44FB4BDDBBB0}" type="slidenum">
              <a:rPr lang="ru-RU" smtClean="0"/>
              <a:pPr algn="ctr"/>
              <a:t>13</a:t>
            </a:fld>
            <a:endParaRPr lang="ru-R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History: </a:t>
            </a:r>
            <a:r>
              <a:rPr lang="en-US" dirty="0"/>
              <a:t>0</a:t>
            </a:r>
            <a:r>
              <a:rPr lang="en-US" baseline="30000" dirty="0"/>
              <a:t>th</a:t>
            </a:r>
            <a:r>
              <a:rPr lang="en-US" dirty="0"/>
              <a:t> </a:t>
            </a:r>
            <a:r>
              <a:rPr lang="en-US" dirty="0" smtClean="0"/>
              <a:t>Generation – Mechanical</a:t>
            </a:r>
            <a:endParaRPr lang="en-US" dirty="0"/>
          </a:p>
        </p:txBody>
      </p:sp>
      <p:pic>
        <p:nvPicPr>
          <p:cNvPr id="1026" name="Picture 2" descr="https://upload.wikimedia.org/wikipedia/commons/thumb/a/ac/AnalyticalMachine_Babbage_London.jpg/800px-AnalyticalMachine_Babbage_London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7179704" y="1557830"/>
            <a:ext cx="4191000" cy="4023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xmlns="" val="11479346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одержимое 1"/>
          <p:cNvSpPr>
            <a:spLocks noGrp="1"/>
          </p:cNvSpPr>
          <p:nvPr>
            <p:ph idx="1"/>
          </p:nvPr>
        </p:nvSpPr>
        <p:spPr>
          <a:xfrm>
            <a:off x="838197" y="1178053"/>
            <a:ext cx="5473151" cy="5071048"/>
          </a:xfrm>
        </p:spPr>
        <p:txBody>
          <a:bodyPr>
            <a:normAutofit/>
          </a:bodyPr>
          <a:lstStyle/>
          <a:p>
            <a:r>
              <a:rPr lang="en-US" dirty="0" smtClean="0"/>
              <a:t>1945–55: first machines were created (</a:t>
            </a:r>
            <a:r>
              <a:rPr lang="en-US" dirty="0" err="1" smtClean="0"/>
              <a:t>Atanasoff</a:t>
            </a:r>
            <a:r>
              <a:rPr lang="en-US" dirty="0" smtClean="0"/>
              <a:t>–Berry, Z3, Colossus, ENIAC)</a:t>
            </a:r>
          </a:p>
          <a:p>
            <a:r>
              <a:rPr lang="en-US" dirty="0" smtClean="0"/>
              <a:t>All programming in pure machine language</a:t>
            </a:r>
          </a:p>
          <a:p>
            <a:r>
              <a:rPr lang="en-US" dirty="0"/>
              <a:t>C</a:t>
            </a:r>
            <a:r>
              <a:rPr lang="en-US" dirty="0" smtClean="0"/>
              <a:t>onnecting </a:t>
            </a:r>
            <a:r>
              <a:rPr lang="en-US" dirty="0"/>
              <a:t>boards and </a:t>
            </a:r>
            <a:r>
              <a:rPr lang="en-US" dirty="0" smtClean="0"/>
              <a:t>wires, punched cards (later)</a:t>
            </a:r>
          </a:p>
          <a:p>
            <a:r>
              <a:rPr lang="en-US" dirty="0" smtClean="0"/>
              <a:t>Stored program concept</a:t>
            </a:r>
          </a:p>
          <a:p>
            <a:endParaRPr lang="en-US" dirty="0" smtClean="0"/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1397BFD8-F312-4EF2-A268-44FB4BDDBBB0}" type="slidenum">
              <a:rPr lang="ru-RU" smtClean="0"/>
              <a:pPr algn="ctr"/>
              <a:t>14</a:t>
            </a:fld>
            <a:endParaRPr lang="ru-RU" dirty="0"/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History: </a:t>
            </a:r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</a:t>
            </a:r>
            <a:r>
              <a:rPr lang="en-US" dirty="0" smtClean="0"/>
              <a:t>Generation - </a:t>
            </a:r>
            <a:r>
              <a:rPr lang="en-US" dirty="0"/>
              <a:t>Vacuum </a:t>
            </a:r>
            <a:r>
              <a:rPr lang="en-US" dirty="0" smtClean="0"/>
              <a:t>Tubes</a:t>
            </a:r>
            <a:endParaRPr lang="ru-RU" dirty="0"/>
          </a:p>
        </p:txBody>
      </p:sp>
      <p:sp>
        <p:nvSpPr>
          <p:cNvPr id="6" name="Rectangle 5"/>
          <p:cNvSpPr/>
          <p:nvPr/>
        </p:nvSpPr>
        <p:spPr>
          <a:xfrm>
            <a:off x="8142386" y="1289132"/>
            <a:ext cx="1463065" cy="785192"/>
          </a:xfrm>
          <a:prstGeom prst="rect">
            <a:avLst/>
          </a:prstGeom>
          <a:solidFill>
            <a:srgbClr val="2F5CB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 smtClean="0">
                <a:solidFill>
                  <a:srgbClr val="F7B217"/>
                </a:solidFill>
              </a:rPr>
              <a:t>Input</a:t>
            </a:r>
            <a:endParaRPr lang="en-US" sz="3200" b="1" dirty="0">
              <a:solidFill>
                <a:srgbClr val="F7B217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142387" y="5463909"/>
            <a:ext cx="1463065" cy="785192"/>
          </a:xfrm>
          <a:prstGeom prst="rect">
            <a:avLst/>
          </a:prstGeom>
          <a:solidFill>
            <a:srgbClr val="2F5CB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smtClean="0">
                <a:solidFill>
                  <a:srgbClr val="F7B217"/>
                </a:solidFill>
              </a:rPr>
              <a:t>Output</a:t>
            </a:r>
            <a:endParaRPr lang="en-US" sz="3200" b="1">
              <a:solidFill>
                <a:srgbClr val="F7B217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391657" y="2506814"/>
            <a:ext cx="4962144" cy="2504097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/>
          <p:cNvCxnSpPr>
            <a:stCxn id="6" idx="2"/>
            <a:endCxn id="7" idx="0"/>
          </p:cNvCxnSpPr>
          <p:nvPr/>
        </p:nvCxnSpPr>
        <p:spPr>
          <a:xfrm flipH="1">
            <a:off x="8872729" y="2074324"/>
            <a:ext cx="1190" cy="432490"/>
          </a:xfrm>
          <a:prstGeom prst="straightConnector1">
            <a:avLst/>
          </a:prstGeom>
          <a:ln w="38100">
            <a:solidFill>
              <a:srgbClr val="2F5CB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7" idx="2"/>
            <a:endCxn id="8" idx="0"/>
          </p:cNvCxnSpPr>
          <p:nvPr/>
        </p:nvCxnSpPr>
        <p:spPr>
          <a:xfrm>
            <a:off x="8872729" y="5010911"/>
            <a:ext cx="1191" cy="452998"/>
          </a:xfrm>
          <a:prstGeom prst="straightConnector1">
            <a:avLst/>
          </a:prstGeom>
          <a:ln w="38100">
            <a:solidFill>
              <a:srgbClr val="2F5CB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432233" y="2770632"/>
            <a:ext cx="1749287" cy="2003729"/>
          </a:xfrm>
          <a:prstGeom prst="rect">
            <a:avLst/>
          </a:prstGeom>
          <a:solidFill>
            <a:srgbClr val="2F5CB5"/>
          </a:solidFill>
          <a:ln>
            <a:solidFill>
              <a:srgbClr val="2F5CB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 smtClean="0">
                <a:solidFill>
                  <a:srgbClr val="F7B217"/>
                </a:solidFill>
              </a:rPr>
              <a:t>Memory</a:t>
            </a:r>
            <a:endParaRPr lang="en-US" sz="3200" b="1" dirty="0">
              <a:solidFill>
                <a:srgbClr val="F7B217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599583" y="2770632"/>
            <a:ext cx="2454965" cy="2003729"/>
          </a:xfrm>
          <a:prstGeom prst="rect">
            <a:avLst/>
          </a:prstGeom>
          <a:solidFill>
            <a:srgbClr val="2F5CB5"/>
          </a:solidFill>
          <a:ln>
            <a:solidFill>
              <a:srgbClr val="2F5CB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/>
          <p:cNvCxnSpPr/>
          <p:nvPr/>
        </p:nvCxnSpPr>
        <p:spPr>
          <a:xfrm flipV="1">
            <a:off x="9054548" y="3339592"/>
            <a:ext cx="377685" cy="3534"/>
          </a:xfrm>
          <a:prstGeom prst="straightConnector1">
            <a:avLst/>
          </a:prstGeom>
          <a:ln w="38100">
            <a:solidFill>
              <a:srgbClr val="2F5CB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 flipH="1" flipV="1">
            <a:off x="9054548" y="4187952"/>
            <a:ext cx="377685" cy="5080"/>
          </a:xfrm>
          <a:prstGeom prst="straightConnector1">
            <a:avLst/>
          </a:prstGeom>
          <a:ln w="38100">
            <a:solidFill>
              <a:srgbClr val="2F5CB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821425" y="2980944"/>
            <a:ext cx="2023872" cy="713232"/>
          </a:xfrm>
          <a:prstGeom prst="rect">
            <a:avLst/>
          </a:prstGeom>
          <a:solidFill>
            <a:srgbClr val="F7B2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>
                <a:solidFill>
                  <a:srgbClr val="2F5CB5"/>
                </a:solidFill>
              </a:rPr>
              <a:t>Arithmetical </a:t>
            </a:r>
            <a:r>
              <a:rPr lang="en-US" sz="2400" b="1" dirty="0">
                <a:solidFill>
                  <a:srgbClr val="2F5CB5"/>
                </a:solidFill>
              </a:rPr>
              <a:t>/</a:t>
            </a:r>
            <a:r>
              <a:rPr lang="en-US" sz="2400" b="1" dirty="0" smtClean="0">
                <a:solidFill>
                  <a:srgbClr val="2F5CB5"/>
                </a:solidFill>
              </a:rPr>
              <a:t> Logic Unit</a:t>
            </a:r>
            <a:endParaRPr lang="en-US" sz="2400" b="1" dirty="0">
              <a:solidFill>
                <a:srgbClr val="2F5CB5"/>
              </a:solidFill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6818045" y="3869726"/>
            <a:ext cx="2023872" cy="720562"/>
          </a:xfrm>
          <a:prstGeom prst="rect">
            <a:avLst/>
          </a:prstGeom>
          <a:solidFill>
            <a:srgbClr val="F7B2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>
                <a:solidFill>
                  <a:srgbClr val="2F5CB5"/>
                </a:solidFill>
              </a:rPr>
              <a:t>Control Unit</a:t>
            </a:r>
            <a:endParaRPr lang="en-US" sz="2400" b="1" dirty="0">
              <a:solidFill>
                <a:srgbClr val="2F5CB5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838200" y="1178053"/>
            <a:ext cx="5846064" cy="5222748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1955</a:t>
            </a:r>
            <a:r>
              <a:rPr lang="en-US" dirty="0"/>
              <a:t>–</a:t>
            </a:r>
            <a:r>
              <a:rPr lang="en-US" dirty="0" smtClean="0"/>
              <a:t>65: era of mainframes (e.g. IBM 7094)</a:t>
            </a:r>
            <a:r>
              <a:rPr lang="ru-RU" dirty="0" smtClean="0"/>
              <a:t> </a:t>
            </a:r>
            <a:r>
              <a:rPr lang="en-US" dirty="0" smtClean="0"/>
              <a:t>used in large companies</a:t>
            </a:r>
          </a:p>
          <a:p>
            <a:r>
              <a:rPr lang="en-US" dirty="0" smtClean="0"/>
              <a:t>Programming in assembly language and FORTRAN</a:t>
            </a:r>
          </a:p>
          <a:p>
            <a:r>
              <a:rPr lang="en-US" dirty="0" smtClean="0"/>
              <a:t>Batch systems (IO was separated from calculations)</a:t>
            </a:r>
          </a:p>
          <a:p>
            <a:r>
              <a:rPr lang="en-US" dirty="0" smtClean="0"/>
              <a:t>Punched cards and magnetic tape</a:t>
            </a:r>
          </a:p>
          <a:p>
            <a:r>
              <a:rPr lang="en-US" dirty="0" smtClean="0"/>
              <a:t>Loaders (OS ancestors)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1397BFD8-F312-4EF2-A268-44FB4BDDBBB0}" type="slidenum">
              <a:rPr lang="ru-RU" smtClean="0"/>
              <a:pPr algn="ctr"/>
              <a:t>15</a:t>
            </a:fld>
            <a:endParaRPr lang="ru-R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History: </a:t>
            </a:r>
            <a:r>
              <a:rPr lang="en-US" dirty="0" smtClean="0"/>
              <a:t>2</a:t>
            </a:r>
            <a:r>
              <a:rPr lang="en-US" baseline="30000" dirty="0" smtClean="0"/>
              <a:t>nd</a:t>
            </a:r>
            <a:r>
              <a:rPr lang="en-US" dirty="0" smtClean="0"/>
              <a:t> </a:t>
            </a:r>
            <a:r>
              <a:rPr lang="en-US" dirty="0"/>
              <a:t>Generation - </a:t>
            </a:r>
            <a:r>
              <a:rPr lang="en-US" dirty="0" smtClean="0"/>
              <a:t>Transistors</a:t>
            </a:r>
            <a:endParaRPr lang="en-US" dirty="0"/>
          </a:p>
        </p:txBody>
      </p:sp>
      <p:pic>
        <p:nvPicPr>
          <p:cNvPr id="1026" name="Picture 2" descr="https://upload.wikimedia.org/wikipedia/commons/thumb/f/fb/IBM_7094_console2.agr.JPG/1024px-IBM_7094_console2.agr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6819024" y="1862630"/>
            <a:ext cx="4551680" cy="3413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xmlns="" val="2950914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BP9927G  Integrated Circuits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8202544" y="1021305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838201" y="1178052"/>
            <a:ext cx="6362699" cy="527354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1965–1980: </a:t>
            </a:r>
            <a:r>
              <a:rPr lang="en-US" dirty="0" smtClean="0"/>
              <a:t>computer lines using the same instruction set architecture (e.g. IBM 360)</a:t>
            </a:r>
          </a:p>
          <a:p>
            <a:r>
              <a:rPr lang="en-US" dirty="0" smtClean="0"/>
              <a:t>First operating systems (e.g. OS/360, MULTICS)</a:t>
            </a:r>
          </a:p>
          <a:p>
            <a:r>
              <a:rPr lang="en-US" dirty="0"/>
              <a:t>M</a:t>
            </a:r>
            <a:r>
              <a:rPr lang="en-US" dirty="0" smtClean="0"/>
              <a:t>ultiprogramming</a:t>
            </a:r>
            <a:r>
              <a:rPr lang="ru-RU" dirty="0" smtClean="0"/>
              <a:t> </a:t>
            </a:r>
            <a:r>
              <a:rPr lang="en-US" dirty="0" smtClean="0"/>
              <a:t>and timesharing</a:t>
            </a:r>
          </a:p>
          <a:p>
            <a:r>
              <a:rPr lang="en-US" dirty="0" smtClean="0"/>
              <a:t>Computer as utility</a:t>
            </a:r>
          </a:p>
          <a:p>
            <a:r>
              <a:rPr lang="en-US" dirty="0" smtClean="0"/>
              <a:t>Programming languages and compilers (LISP, BASIC, C)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1397BFD8-F312-4EF2-A268-44FB4BDDBBB0}" type="slidenum">
              <a:rPr lang="ru-RU" smtClean="0"/>
              <a:pPr algn="ctr"/>
              <a:t>16</a:t>
            </a:fld>
            <a:endParaRPr lang="ru-R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History: </a:t>
            </a:r>
            <a:r>
              <a:rPr lang="en-US" dirty="0" smtClean="0"/>
              <a:t>3</a:t>
            </a:r>
            <a:r>
              <a:rPr lang="en-US" baseline="30000" dirty="0" smtClean="0"/>
              <a:t>rd</a:t>
            </a:r>
            <a:r>
              <a:rPr lang="en-US" dirty="0" smtClean="0"/>
              <a:t> </a:t>
            </a:r>
            <a:r>
              <a:rPr lang="en-US" dirty="0"/>
              <a:t>Generation </a:t>
            </a:r>
            <a:r>
              <a:rPr lang="en-US" dirty="0" smtClean="0"/>
              <a:t>– Integrated Circuits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7344825" y="3177032"/>
            <a:ext cx="2111513" cy="693093"/>
          </a:xfrm>
          <a:prstGeom prst="rect">
            <a:avLst/>
          </a:prstGeom>
          <a:solidFill>
            <a:srgbClr val="F7B217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 smtClean="0">
                <a:solidFill>
                  <a:srgbClr val="273272"/>
                </a:solidFill>
              </a:rPr>
              <a:t>Job 3</a:t>
            </a:r>
            <a:endParaRPr lang="en-US" sz="3600" b="1" dirty="0">
              <a:solidFill>
                <a:srgbClr val="273272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344825" y="3873876"/>
            <a:ext cx="2111513" cy="690514"/>
          </a:xfrm>
          <a:prstGeom prst="rect">
            <a:avLst/>
          </a:prstGeom>
          <a:solidFill>
            <a:srgbClr val="F7B217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 smtClean="0">
                <a:solidFill>
                  <a:srgbClr val="273272"/>
                </a:solidFill>
              </a:rPr>
              <a:t>Job 2</a:t>
            </a:r>
            <a:endParaRPr lang="en-US" sz="3600" b="1" dirty="0">
              <a:solidFill>
                <a:srgbClr val="273272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344825" y="4570795"/>
            <a:ext cx="2111513" cy="695939"/>
          </a:xfrm>
          <a:prstGeom prst="rect">
            <a:avLst/>
          </a:prstGeom>
          <a:solidFill>
            <a:srgbClr val="F7B217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 smtClean="0">
                <a:solidFill>
                  <a:srgbClr val="273272"/>
                </a:solidFill>
              </a:rPr>
              <a:t>Job 1</a:t>
            </a:r>
            <a:endParaRPr lang="en-US" sz="3600" b="1" dirty="0">
              <a:solidFill>
                <a:srgbClr val="273272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344825" y="5267561"/>
            <a:ext cx="2111513" cy="1061280"/>
          </a:xfrm>
          <a:prstGeom prst="rect">
            <a:avLst/>
          </a:prstGeom>
          <a:solidFill>
            <a:srgbClr val="F7B217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 smtClean="0">
                <a:solidFill>
                  <a:srgbClr val="273272"/>
                </a:solidFill>
              </a:rPr>
              <a:t>Operating</a:t>
            </a:r>
          </a:p>
          <a:p>
            <a:pPr algn="ctr"/>
            <a:r>
              <a:rPr lang="en-US" sz="3600" b="1" dirty="0" smtClean="0">
                <a:solidFill>
                  <a:srgbClr val="273272"/>
                </a:solidFill>
              </a:rPr>
              <a:t>System</a:t>
            </a:r>
            <a:endParaRPr lang="en-US" sz="3600" b="1" dirty="0">
              <a:solidFill>
                <a:srgbClr val="273272"/>
              </a:solidFill>
            </a:endParaRPr>
          </a:p>
        </p:txBody>
      </p:sp>
      <p:cxnSp>
        <p:nvCxnSpPr>
          <p:cNvPr id="14" name="Straight Connector 13"/>
          <p:cNvCxnSpPr>
            <a:endCxn id="7" idx="3"/>
          </p:cNvCxnSpPr>
          <p:nvPr/>
        </p:nvCxnSpPr>
        <p:spPr>
          <a:xfrm flipH="1" flipV="1">
            <a:off x="9456338" y="3523579"/>
            <a:ext cx="1094181" cy="1088744"/>
          </a:xfrm>
          <a:prstGeom prst="line">
            <a:avLst/>
          </a:prstGeom>
          <a:ln w="50800">
            <a:solidFill>
              <a:srgbClr val="1E327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>
            <a:endCxn id="10" idx="3"/>
          </p:cNvCxnSpPr>
          <p:nvPr/>
        </p:nvCxnSpPr>
        <p:spPr>
          <a:xfrm flipH="1">
            <a:off x="9456338" y="4599513"/>
            <a:ext cx="1071956" cy="1198688"/>
          </a:xfrm>
          <a:prstGeom prst="line">
            <a:avLst/>
          </a:prstGeom>
          <a:ln w="50800">
            <a:solidFill>
              <a:srgbClr val="1E327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>
            <a:endCxn id="9" idx="3"/>
          </p:cNvCxnSpPr>
          <p:nvPr/>
        </p:nvCxnSpPr>
        <p:spPr>
          <a:xfrm flipH="1">
            <a:off x="9456338" y="4599513"/>
            <a:ext cx="1071956" cy="319252"/>
          </a:xfrm>
          <a:prstGeom prst="line">
            <a:avLst/>
          </a:prstGeom>
          <a:ln w="50800">
            <a:solidFill>
              <a:srgbClr val="1E327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endCxn id="8" idx="3"/>
          </p:cNvCxnSpPr>
          <p:nvPr/>
        </p:nvCxnSpPr>
        <p:spPr>
          <a:xfrm flipH="1" flipV="1">
            <a:off x="9456338" y="4219133"/>
            <a:ext cx="1071956" cy="386785"/>
          </a:xfrm>
          <a:prstGeom prst="line">
            <a:avLst/>
          </a:prstGeom>
          <a:ln w="50800">
            <a:solidFill>
              <a:srgbClr val="1E327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10080183" y="3367486"/>
            <a:ext cx="1636648" cy="894678"/>
          </a:xfrm>
          <a:prstGeom prst="rect">
            <a:avLst/>
          </a:prstGeom>
          <a:noFill/>
        </p:spPr>
        <p:txBody>
          <a:bodyPr wrap="square" lIns="72000" tIns="25200" rIns="0" bIns="25200" rtlCol="0" anchor="ctr" anchorCtr="0">
            <a:noAutofit/>
          </a:bodyPr>
          <a:lstStyle/>
          <a:p>
            <a:pPr algn="ctr"/>
            <a:r>
              <a:rPr lang="en-US" sz="2800" b="1" dirty="0" smtClean="0">
                <a:solidFill>
                  <a:srgbClr val="1E3272"/>
                </a:solidFill>
              </a:rPr>
              <a:t>Memory Partitions</a:t>
            </a:r>
          </a:p>
        </p:txBody>
      </p:sp>
    </p:spTree>
    <p:extLst>
      <p:ext uri="{BB962C8B-B14F-4D97-AF65-F5344CB8AC3E}">
        <p14:creationId xmlns:p14="http://schemas.microsoft.com/office/powerpoint/2010/main" xmlns="" val="40871790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838200" y="1178052"/>
            <a:ext cx="7341704" cy="5492305"/>
          </a:xfrm>
        </p:spPr>
        <p:txBody>
          <a:bodyPr>
            <a:normAutofit/>
          </a:bodyPr>
          <a:lstStyle/>
          <a:p>
            <a:r>
              <a:rPr lang="en-US" dirty="0" smtClean="0"/>
              <a:t>1980–Present: personal computers, laptops, servers (Apple, IBM, etc.)</a:t>
            </a:r>
          </a:p>
          <a:p>
            <a:r>
              <a:rPr lang="en-US" dirty="0" smtClean="0"/>
              <a:t>Architectures: x86-64</a:t>
            </a:r>
            <a:r>
              <a:rPr lang="en-US" dirty="0"/>
              <a:t>, </a:t>
            </a:r>
            <a:r>
              <a:rPr lang="en-US" dirty="0" smtClean="0"/>
              <a:t>Itanium, ARM, MIPS, PowerPC, SPARC, RISC-V, etc.</a:t>
            </a:r>
          </a:p>
          <a:p>
            <a:r>
              <a:rPr lang="en-US" dirty="0" smtClean="0"/>
              <a:t>Operating systems: UNIX (System V and BSD), MINIX, Linux, </a:t>
            </a:r>
            <a:r>
              <a:rPr lang="en-US" dirty="0" err="1" smtClean="0"/>
              <a:t>MacOS</a:t>
            </a:r>
            <a:r>
              <a:rPr lang="en-US" dirty="0" smtClean="0"/>
              <a:t>, </a:t>
            </a:r>
            <a:r>
              <a:rPr lang="en-US" dirty="0"/>
              <a:t>DOS, </a:t>
            </a:r>
            <a:r>
              <a:rPr lang="en-US" dirty="0" smtClean="0"/>
              <a:t>Windows (NT)</a:t>
            </a:r>
          </a:p>
          <a:p>
            <a:r>
              <a:rPr lang="en-US" dirty="0" smtClean="0"/>
              <a:t>ISA (CISC, RISC, VLIW), </a:t>
            </a:r>
            <a:r>
              <a:rPr lang="en-US" dirty="0"/>
              <a:t>caches, </a:t>
            </a:r>
            <a:r>
              <a:rPr lang="en-US" dirty="0" smtClean="0"/>
              <a:t>pipelines, SIMD</a:t>
            </a:r>
            <a:r>
              <a:rPr lang="en-US" dirty="0"/>
              <a:t>, vectors, </a:t>
            </a:r>
            <a:r>
              <a:rPr lang="en-US" dirty="0" err="1" smtClean="0"/>
              <a:t>hyperthreading</a:t>
            </a:r>
            <a:r>
              <a:rPr lang="en-US" dirty="0" smtClean="0"/>
              <a:t>, multicore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1397BFD8-F312-4EF2-A268-44FB4BDDBBB0}" type="slidenum">
              <a:rPr lang="ru-RU" smtClean="0"/>
              <a:pPr algn="ctr"/>
              <a:t>17</a:t>
            </a:fld>
            <a:endParaRPr lang="ru-R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History: </a:t>
            </a:r>
            <a:r>
              <a:rPr lang="en-US" dirty="0" smtClean="0"/>
              <a:t>4</a:t>
            </a:r>
            <a:r>
              <a:rPr lang="en-US" baseline="30000" dirty="0" smtClean="0"/>
              <a:t>th</a:t>
            </a:r>
            <a:r>
              <a:rPr lang="en-US" dirty="0" smtClean="0"/>
              <a:t> </a:t>
            </a:r>
            <a:r>
              <a:rPr lang="en-US" dirty="0"/>
              <a:t>Generation </a:t>
            </a:r>
            <a:r>
              <a:rPr lang="en-US" dirty="0" smtClean="0"/>
              <a:t>– VLSI and PC </a:t>
            </a:r>
            <a:endParaRPr lang="en-US" dirty="0"/>
          </a:p>
        </p:txBody>
      </p:sp>
      <p:pic>
        <p:nvPicPr>
          <p:cNvPr id="3074" name="Picture 2" descr="The Lisa - MacStories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8052831" y="3586865"/>
            <a:ext cx="3315282" cy="2175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Free VLSI Tutorial - IC Design Process: A Beginner's Overview to VLSI  Technology | Udemy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8078230" y="1286510"/>
            <a:ext cx="3286125" cy="1848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xmlns="" val="40200939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838200" y="1266953"/>
            <a:ext cx="6324600" cy="4997896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dirty="0" smtClean="0"/>
              <a:t>1990–Present: </a:t>
            </a:r>
            <a:r>
              <a:rPr lang="en-US" dirty="0"/>
              <a:t>mobile devices, embedded </a:t>
            </a:r>
            <a:r>
              <a:rPr lang="en-US" dirty="0" smtClean="0"/>
              <a:t>systems, </a:t>
            </a:r>
            <a:r>
              <a:rPr lang="en-US" dirty="0" err="1" smtClean="0"/>
              <a:t>IoT</a:t>
            </a:r>
            <a:r>
              <a:rPr lang="en-US" dirty="0" smtClean="0"/>
              <a:t> devices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dirty="0" smtClean="0"/>
              <a:t>Custom processors and FPGAs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dirty="0" smtClean="0"/>
              <a:t>Mobile operating systems: Symbian, iOS, Android, Windows Mobile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dirty="0" smtClean="0"/>
              <a:t>Real-time operating systems</a:t>
            </a:r>
            <a:endParaRPr lang="en-US" dirty="0"/>
          </a:p>
          <a:p>
            <a:endParaRPr lang="en-US" dirty="0" smtClean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1397BFD8-F312-4EF2-A268-44FB4BDDBBB0}" type="slidenum">
              <a:rPr lang="ru-RU" smtClean="0"/>
              <a:pPr algn="ctr"/>
              <a:t>18</a:t>
            </a:fld>
            <a:endParaRPr lang="ru-R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History: </a:t>
            </a:r>
            <a:r>
              <a:rPr lang="en-US" dirty="0" smtClean="0"/>
              <a:t>5</a:t>
            </a:r>
            <a:r>
              <a:rPr lang="en-US" baseline="30000" dirty="0" smtClean="0"/>
              <a:t>th</a:t>
            </a:r>
            <a:r>
              <a:rPr lang="en-US" dirty="0" smtClean="0"/>
              <a:t> </a:t>
            </a:r>
            <a:r>
              <a:rPr lang="en-US" dirty="0"/>
              <a:t>Generation – </a:t>
            </a:r>
            <a:r>
              <a:rPr lang="en-US" dirty="0" smtClean="0"/>
              <a:t>Mobile devices </a:t>
            </a:r>
            <a:endParaRPr lang="en-US" dirty="0"/>
          </a:p>
        </p:txBody>
      </p:sp>
      <p:pic>
        <p:nvPicPr>
          <p:cNvPr id="5" name="Picture 14" descr="http://wrtassoc.com/wp-content/uploads/2010/01/iPad-w-hands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7840663" y="1697847"/>
            <a:ext cx="3362325" cy="3743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xmlns="" val="38568440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5406521" y="1144614"/>
            <a:ext cx="5962810" cy="26086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1397BFD8-F312-4EF2-A268-44FB4BDDBBB0}" type="slidenum">
              <a:rPr lang="ru-RU" smtClean="0"/>
              <a:pPr algn="ctr"/>
              <a:t>19</a:t>
            </a:fld>
            <a:endParaRPr lang="ru-R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Technology Trends</a:t>
            </a:r>
            <a:endParaRPr lang="en-US" dirty="0"/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>
          <a:xfrm>
            <a:off x="798512" y="1074738"/>
            <a:ext cx="4675187" cy="2905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itchFamily="2" charset="2"/>
              <a:buChar char="§"/>
              <a:defRPr sz="3600" kern="1200">
                <a:solidFill>
                  <a:srgbClr val="27327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F7B217"/>
              </a:buClr>
              <a:buFont typeface="Wingdings" pitchFamily="2" charset="2"/>
              <a:buChar char="§"/>
              <a:defRPr sz="3200" kern="1200">
                <a:solidFill>
                  <a:srgbClr val="27327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itchFamily="2" charset="2"/>
              <a:buChar char="§"/>
              <a:defRPr sz="2400" kern="1200">
                <a:solidFill>
                  <a:srgbClr val="27327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27327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27327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altLang="en-US" dirty="0" smtClean="0"/>
              <a:t>Electronics technology continues to evolve</a:t>
            </a:r>
          </a:p>
          <a:p>
            <a:pPr lvl="1"/>
            <a:r>
              <a:rPr lang="en-AU" altLang="en-US" dirty="0" smtClean="0"/>
              <a:t>Increased capacity and performance</a:t>
            </a:r>
          </a:p>
          <a:p>
            <a:pPr lvl="1"/>
            <a:r>
              <a:rPr lang="en-AU" altLang="en-US" dirty="0" smtClean="0"/>
              <a:t>Reduced cost</a:t>
            </a:r>
          </a:p>
        </p:txBody>
      </p:sp>
      <p:sp>
        <p:nvSpPr>
          <p:cNvPr id="7" name="Text Box 89"/>
          <p:cNvSpPr txBox="1">
            <a:spLocks noChangeArrowheads="1"/>
          </p:cNvSpPr>
          <p:nvPr/>
        </p:nvSpPr>
        <p:spPr bwMode="auto">
          <a:xfrm>
            <a:off x="7467982" y="1074738"/>
            <a:ext cx="2450718" cy="461665"/>
          </a:xfrm>
          <a:prstGeom prst="rect">
            <a:avLst/>
          </a:prstGeom>
          <a:solidFill>
            <a:srgbClr val="2F5CB5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AU" altLang="en-US" sz="2400" b="1" dirty="0" smtClean="0">
                <a:solidFill>
                  <a:srgbClr val="F7B217"/>
                </a:solidFill>
                <a:latin typeface="+mn-lt"/>
              </a:rPr>
              <a:t>Memory capacity</a:t>
            </a:r>
            <a:endParaRPr lang="en-AU" altLang="en-US" sz="2400" b="1" dirty="0">
              <a:solidFill>
                <a:srgbClr val="F7B217"/>
              </a:solidFill>
              <a:latin typeface="+mn-lt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213753623"/>
              </p:ext>
            </p:extLst>
          </p:nvPr>
        </p:nvGraphicFramePr>
        <p:xfrm>
          <a:off x="2137778" y="3879876"/>
          <a:ext cx="8365122" cy="27426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48717"/>
                <a:gridCol w="3481005"/>
                <a:gridCol w="3835400"/>
              </a:tblGrid>
              <a:tr h="41505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AU" sz="2400" u="none" strike="noStrike" cap="none" normalizeH="0" baseline="0" dirty="0" smtClean="0">
                          <a:ln>
                            <a:solidFill>
                              <a:srgbClr val="273272"/>
                            </a:solidFill>
                          </a:ln>
                          <a:solidFill>
                            <a:srgbClr val="1E3272"/>
                          </a:solidFill>
                          <a:effectLst/>
                        </a:rPr>
                        <a:t>Year</a:t>
                      </a:r>
                      <a:endParaRPr kumimoji="0" lang="en-AU" sz="2400" b="1" i="0" u="none" strike="noStrike" cap="none" normalizeH="0" baseline="0" dirty="0" smtClean="0">
                        <a:ln>
                          <a:solidFill>
                            <a:srgbClr val="273272"/>
                          </a:solidFill>
                        </a:ln>
                        <a:solidFill>
                          <a:srgbClr val="1E3272"/>
                        </a:solidFill>
                        <a:effectLst/>
                        <a:latin typeface="+mn-lt"/>
                      </a:endParaRPr>
                    </a:p>
                  </a:txBody>
                  <a:tcPr marT="45671" marB="4567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2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AU" sz="2400" u="none" strike="noStrike" cap="none" normalizeH="0" baseline="0" dirty="0" smtClean="0">
                          <a:ln>
                            <a:solidFill>
                              <a:srgbClr val="273272"/>
                            </a:solidFill>
                          </a:ln>
                          <a:solidFill>
                            <a:srgbClr val="1E3272"/>
                          </a:solidFill>
                          <a:effectLst/>
                        </a:rPr>
                        <a:t>Technology</a:t>
                      </a:r>
                      <a:endParaRPr kumimoji="0" lang="en-AU" sz="2400" b="1" i="0" u="none" strike="noStrike" cap="none" normalizeH="0" baseline="0" dirty="0" smtClean="0">
                        <a:ln>
                          <a:solidFill>
                            <a:srgbClr val="273272"/>
                          </a:solidFill>
                        </a:ln>
                        <a:solidFill>
                          <a:srgbClr val="1E3272"/>
                        </a:solidFill>
                        <a:effectLst/>
                        <a:latin typeface="+mn-lt"/>
                      </a:endParaRPr>
                    </a:p>
                  </a:txBody>
                  <a:tcPr marT="45671" marB="4567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2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AU" sz="2400" u="none" strike="noStrike" cap="none" normalizeH="0" baseline="0" dirty="0" smtClean="0">
                          <a:ln>
                            <a:solidFill>
                              <a:srgbClr val="273272"/>
                            </a:solidFill>
                          </a:ln>
                          <a:solidFill>
                            <a:srgbClr val="1E3272"/>
                          </a:solidFill>
                          <a:effectLst/>
                        </a:rPr>
                        <a:t>Relative performance/cost</a:t>
                      </a:r>
                      <a:endParaRPr kumimoji="0" lang="en-AU" sz="2400" b="1" i="0" u="none" strike="noStrike" cap="none" normalizeH="0" baseline="0" dirty="0" smtClean="0">
                        <a:ln>
                          <a:solidFill>
                            <a:srgbClr val="273272"/>
                          </a:solidFill>
                        </a:ln>
                        <a:solidFill>
                          <a:srgbClr val="1E3272"/>
                        </a:solidFill>
                        <a:effectLst/>
                        <a:latin typeface="+mn-lt"/>
                      </a:endParaRPr>
                    </a:p>
                  </a:txBody>
                  <a:tcPr marT="45671" marB="4567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217"/>
                    </a:solidFill>
                  </a:tcPr>
                </a:tc>
              </a:tr>
              <a:tr h="41505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AU" sz="2400" u="none" strike="noStrike" cap="none" normalizeH="0" baseline="0" dirty="0" smtClean="0">
                          <a:ln>
                            <a:solidFill>
                              <a:srgbClr val="273272"/>
                            </a:solidFill>
                          </a:ln>
                          <a:solidFill>
                            <a:srgbClr val="1E3272"/>
                          </a:solidFill>
                          <a:effectLst/>
                        </a:rPr>
                        <a:t>1951</a:t>
                      </a:r>
                      <a:endParaRPr kumimoji="0" lang="en-AU" sz="2400" b="1" i="0" u="none" strike="noStrike" cap="none" normalizeH="0" baseline="0" dirty="0" smtClean="0">
                        <a:ln>
                          <a:solidFill>
                            <a:srgbClr val="273272"/>
                          </a:solidFill>
                        </a:ln>
                        <a:solidFill>
                          <a:srgbClr val="1E3272"/>
                        </a:solidFill>
                        <a:effectLst/>
                        <a:latin typeface="+mn-lt"/>
                      </a:endParaRPr>
                    </a:p>
                  </a:txBody>
                  <a:tcPr marT="45671" marB="4567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2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AU" sz="2400" u="none" strike="noStrike" cap="none" normalizeH="0" baseline="0" dirty="0" smtClean="0">
                          <a:ln>
                            <a:solidFill>
                              <a:srgbClr val="273272"/>
                            </a:solidFill>
                          </a:ln>
                          <a:solidFill>
                            <a:srgbClr val="1E3272"/>
                          </a:solidFill>
                          <a:effectLst/>
                        </a:rPr>
                        <a:t>Vacuum tube</a:t>
                      </a:r>
                      <a:endParaRPr kumimoji="0" lang="en-AU" sz="2400" b="1" i="0" u="none" strike="noStrike" cap="none" normalizeH="0" baseline="0" dirty="0" smtClean="0">
                        <a:ln>
                          <a:solidFill>
                            <a:srgbClr val="273272"/>
                          </a:solidFill>
                        </a:ln>
                        <a:solidFill>
                          <a:srgbClr val="1E3272"/>
                        </a:solidFill>
                        <a:effectLst/>
                        <a:latin typeface="+mn-lt"/>
                      </a:endParaRPr>
                    </a:p>
                  </a:txBody>
                  <a:tcPr marT="45671" marB="4567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2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AU" sz="2400" u="none" strike="noStrike" cap="none" normalizeH="0" baseline="0" dirty="0" smtClean="0">
                          <a:ln>
                            <a:solidFill>
                              <a:srgbClr val="273272"/>
                            </a:solidFill>
                          </a:ln>
                          <a:solidFill>
                            <a:srgbClr val="1E3272"/>
                          </a:solidFill>
                          <a:effectLst/>
                        </a:rPr>
                        <a:t>1</a:t>
                      </a:r>
                      <a:endParaRPr kumimoji="0" lang="en-AU" sz="2400" b="1" i="0" u="none" strike="noStrike" cap="none" normalizeH="0" baseline="0" dirty="0" smtClean="0">
                        <a:ln>
                          <a:solidFill>
                            <a:srgbClr val="273272"/>
                          </a:solidFill>
                        </a:ln>
                        <a:solidFill>
                          <a:srgbClr val="1E3272"/>
                        </a:solidFill>
                        <a:effectLst/>
                        <a:latin typeface="+mn-lt"/>
                      </a:endParaRPr>
                    </a:p>
                  </a:txBody>
                  <a:tcPr marT="45671" marB="4567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217"/>
                    </a:solidFill>
                  </a:tcPr>
                </a:tc>
              </a:tr>
              <a:tr h="41505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AU" sz="2400" u="none" strike="noStrike" cap="none" normalizeH="0" baseline="0" dirty="0" smtClean="0">
                          <a:ln>
                            <a:solidFill>
                              <a:srgbClr val="273272"/>
                            </a:solidFill>
                          </a:ln>
                          <a:solidFill>
                            <a:srgbClr val="1E3272"/>
                          </a:solidFill>
                          <a:effectLst/>
                        </a:rPr>
                        <a:t>1965</a:t>
                      </a:r>
                      <a:endParaRPr kumimoji="0" lang="en-AU" sz="2400" b="1" i="0" u="none" strike="noStrike" cap="none" normalizeH="0" baseline="0" dirty="0" smtClean="0">
                        <a:ln>
                          <a:solidFill>
                            <a:srgbClr val="273272"/>
                          </a:solidFill>
                        </a:ln>
                        <a:solidFill>
                          <a:srgbClr val="1E3272"/>
                        </a:solidFill>
                        <a:effectLst/>
                        <a:latin typeface="+mn-lt"/>
                      </a:endParaRPr>
                    </a:p>
                  </a:txBody>
                  <a:tcPr marT="45671" marB="4567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2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AU" sz="2400" u="none" strike="noStrike" cap="none" normalizeH="0" baseline="0" dirty="0" smtClean="0">
                          <a:ln>
                            <a:solidFill>
                              <a:srgbClr val="273272"/>
                            </a:solidFill>
                          </a:ln>
                          <a:solidFill>
                            <a:srgbClr val="1E3272"/>
                          </a:solidFill>
                          <a:effectLst/>
                        </a:rPr>
                        <a:t>Transistor</a:t>
                      </a:r>
                      <a:endParaRPr kumimoji="0" lang="en-AU" sz="2400" b="1" i="0" u="none" strike="noStrike" cap="none" normalizeH="0" baseline="0" dirty="0" smtClean="0">
                        <a:ln>
                          <a:solidFill>
                            <a:srgbClr val="273272"/>
                          </a:solidFill>
                        </a:ln>
                        <a:solidFill>
                          <a:srgbClr val="1E3272"/>
                        </a:solidFill>
                        <a:effectLst/>
                        <a:latin typeface="+mn-lt"/>
                      </a:endParaRPr>
                    </a:p>
                  </a:txBody>
                  <a:tcPr marT="45671" marB="4567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2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AU" sz="2400" u="none" strike="noStrike" cap="none" normalizeH="0" baseline="0" dirty="0" smtClean="0">
                          <a:ln>
                            <a:solidFill>
                              <a:srgbClr val="273272"/>
                            </a:solidFill>
                          </a:ln>
                          <a:solidFill>
                            <a:srgbClr val="1E3272"/>
                          </a:solidFill>
                          <a:effectLst/>
                        </a:rPr>
                        <a:t>35</a:t>
                      </a:r>
                      <a:endParaRPr kumimoji="0" lang="en-AU" sz="2400" b="1" i="0" u="none" strike="noStrike" cap="none" normalizeH="0" baseline="0" dirty="0" smtClean="0">
                        <a:ln>
                          <a:solidFill>
                            <a:srgbClr val="273272"/>
                          </a:solidFill>
                        </a:ln>
                        <a:solidFill>
                          <a:srgbClr val="1E3272"/>
                        </a:solidFill>
                        <a:effectLst/>
                        <a:latin typeface="+mn-lt"/>
                      </a:endParaRPr>
                    </a:p>
                  </a:txBody>
                  <a:tcPr marT="45671" marB="4567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217"/>
                    </a:solidFill>
                  </a:tcPr>
                </a:tc>
              </a:tr>
              <a:tr h="41505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AU" sz="2400" u="none" strike="noStrike" cap="none" normalizeH="0" baseline="0" dirty="0" smtClean="0">
                          <a:ln>
                            <a:solidFill>
                              <a:srgbClr val="273272"/>
                            </a:solidFill>
                          </a:ln>
                          <a:solidFill>
                            <a:srgbClr val="1E3272"/>
                          </a:solidFill>
                          <a:effectLst/>
                        </a:rPr>
                        <a:t>1975</a:t>
                      </a:r>
                      <a:endParaRPr kumimoji="0" lang="en-AU" sz="2400" b="1" i="0" u="none" strike="noStrike" cap="none" normalizeH="0" baseline="0" dirty="0" smtClean="0">
                        <a:ln>
                          <a:solidFill>
                            <a:srgbClr val="273272"/>
                          </a:solidFill>
                        </a:ln>
                        <a:solidFill>
                          <a:srgbClr val="1E3272"/>
                        </a:solidFill>
                        <a:effectLst/>
                        <a:latin typeface="+mn-lt"/>
                      </a:endParaRPr>
                    </a:p>
                  </a:txBody>
                  <a:tcPr marT="45671" marB="4567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2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AU" sz="2400" u="none" strike="noStrike" cap="none" normalizeH="0" baseline="0" dirty="0" smtClean="0">
                          <a:ln>
                            <a:solidFill>
                              <a:srgbClr val="273272"/>
                            </a:solidFill>
                          </a:ln>
                          <a:solidFill>
                            <a:srgbClr val="1E3272"/>
                          </a:solidFill>
                          <a:effectLst/>
                        </a:rPr>
                        <a:t>Integrated circuit (IC)</a:t>
                      </a:r>
                      <a:endParaRPr kumimoji="0" lang="en-AU" sz="2400" b="1" i="0" u="none" strike="noStrike" cap="none" normalizeH="0" baseline="0" dirty="0" smtClean="0">
                        <a:ln>
                          <a:solidFill>
                            <a:srgbClr val="273272"/>
                          </a:solidFill>
                        </a:ln>
                        <a:solidFill>
                          <a:srgbClr val="1E3272"/>
                        </a:solidFill>
                        <a:effectLst/>
                        <a:latin typeface="+mn-lt"/>
                      </a:endParaRPr>
                    </a:p>
                  </a:txBody>
                  <a:tcPr marT="45671" marB="4567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2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AU" sz="2400" u="none" strike="noStrike" cap="none" normalizeH="0" baseline="0" dirty="0" smtClean="0">
                          <a:ln>
                            <a:solidFill>
                              <a:srgbClr val="273272"/>
                            </a:solidFill>
                          </a:ln>
                          <a:solidFill>
                            <a:srgbClr val="1E3272"/>
                          </a:solidFill>
                          <a:effectLst/>
                        </a:rPr>
                        <a:t>900</a:t>
                      </a:r>
                      <a:endParaRPr kumimoji="0" lang="en-AU" sz="2400" b="1" i="0" u="none" strike="noStrike" cap="none" normalizeH="0" baseline="0" dirty="0" smtClean="0">
                        <a:ln>
                          <a:solidFill>
                            <a:srgbClr val="273272"/>
                          </a:solidFill>
                        </a:ln>
                        <a:solidFill>
                          <a:srgbClr val="1E3272"/>
                        </a:solidFill>
                        <a:effectLst/>
                        <a:latin typeface="+mn-lt"/>
                      </a:endParaRPr>
                    </a:p>
                  </a:txBody>
                  <a:tcPr marT="45671" marB="4567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217"/>
                    </a:solidFill>
                  </a:tcPr>
                </a:tc>
              </a:tr>
              <a:tr h="41505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AU" sz="2400" u="none" strike="noStrike" cap="none" normalizeH="0" baseline="0" dirty="0" smtClean="0">
                          <a:ln>
                            <a:solidFill>
                              <a:srgbClr val="273272"/>
                            </a:solidFill>
                          </a:ln>
                          <a:solidFill>
                            <a:srgbClr val="1E3272"/>
                          </a:solidFill>
                          <a:effectLst/>
                        </a:rPr>
                        <a:t>1995</a:t>
                      </a:r>
                      <a:endParaRPr kumimoji="0" lang="en-AU" sz="2400" b="1" i="0" u="none" strike="noStrike" cap="none" normalizeH="0" baseline="0" dirty="0" smtClean="0">
                        <a:ln>
                          <a:solidFill>
                            <a:srgbClr val="273272"/>
                          </a:solidFill>
                        </a:ln>
                        <a:solidFill>
                          <a:srgbClr val="1E3272"/>
                        </a:solidFill>
                        <a:effectLst/>
                        <a:latin typeface="+mn-lt"/>
                      </a:endParaRPr>
                    </a:p>
                  </a:txBody>
                  <a:tcPr marT="45671" marB="4567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2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AU" sz="2400" u="none" strike="noStrike" cap="none" normalizeH="0" baseline="0" dirty="0" smtClean="0">
                          <a:ln>
                            <a:solidFill>
                              <a:srgbClr val="273272"/>
                            </a:solidFill>
                          </a:ln>
                          <a:solidFill>
                            <a:srgbClr val="1E3272"/>
                          </a:solidFill>
                          <a:effectLst/>
                        </a:rPr>
                        <a:t>Very large scale IC (VLSI)</a:t>
                      </a:r>
                      <a:endParaRPr kumimoji="0" lang="en-AU" sz="2400" b="1" i="0" u="none" strike="noStrike" cap="none" normalizeH="0" baseline="0" dirty="0" smtClean="0">
                        <a:ln>
                          <a:solidFill>
                            <a:srgbClr val="273272"/>
                          </a:solidFill>
                        </a:ln>
                        <a:solidFill>
                          <a:srgbClr val="1E3272"/>
                        </a:solidFill>
                        <a:effectLst/>
                        <a:latin typeface="+mn-lt"/>
                      </a:endParaRPr>
                    </a:p>
                  </a:txBody>
                  <a:tcPr marT="45671" marB="4567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2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AU" sz="2400" u="none" strike="noStrike" cap="none" normalizeH="0" baseline="0" dirty="0" smtClean="0">
                          <a:ln>
                            <a:solidFill>
                              <a:srgbClr val="273272"/>
                            </a:solidFill>
                          </a:ln>
                          <a:solidFill>
                            <a:srgbClr val="1E3272"/>
                          </a:solidFill>
                          <a:effectLst/>
                        </a:rPr>
                        <a:t>2,400,000</a:t>
                      </a:r>
                      <a:endParaRPr kumimoji="0" lang="en-AU" sz="2400" b="1" i="0" u="none" strike="noStrike" cap="none" normalizeH="0" baseline="0" dirty="0" smtClean="0">
                        <a:ln>
                          <a:solidFill>
                            <a:srgbClr val="273272"/>
                          </a:solidFill>
                        </a:ln>
                        <a:solidFill>
                          <a:srgbClr val="1E3272"/>
                        </a:solidFill>
                        <a:effectLst/>
                        <a:latin typeface="+mn-lt"/>
                      </a:endParaRPr>
                    </a:p>
                  </a:txBody>
                  <a:tcPr marT="45671" marB="4567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217"/>
                    </a:solidFill>
                  </a:tcPr>
                </a:tc>
              </a:tr>
              <a:tr h="41505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AU" sz="2400" u="none" strike="noStrike" cap="none" normalizeH="0" baseline="0" dirty="0" smtClean="0">
                          <a:ln>
                            <a:solidFill>
                              <a:srgbClr val="273272"/>
                            </a:solidFill>
                          </a:ln>
                          <a:solidFill>
                            <a:srgbClr val="1E3272"/>
                          </a:solidFill>
                          <a:effectLst/>
                        </a:rPr>
                        <a:t>2013</a:t>
                      </a:r>
                      <a:endParaRPr kumimoji="0" lang="en-AU" sz="2400" b="1" i="0" u="none" strike="noStrike" cap="none" normalizeH="0" baseline="0" dirty="0" smtClean="0">
                        <a:ln>
                          <a:solidFill>
                            <a:srgbClr val="273272"/>
                          </a:solidFill>
                        </a:ln>
                        <a:solidFill>
                          <a:srgbClr val="1E3272"/>
                        </a:solidFill>
                        <a:effectLst/>
                        <a:latin typeface="+mn-lt"/>
                      </a:endParaRPr>
                    </a:p>
                  </a:txBody>
                  <a:tcPr marT="45671" marB="4567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2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AU" sz="2400" u="none" strike="noStrike" cap="none" normalizeH="0" baseline="0" dirty="0" smtClean="0">
                          <a:ln>
                            <a:solidFill>
                              <a:srgbClr val="273272"/>
                            </a:solidFill>
                          </a:ln>
                          <a:solidFill>
                            <a:srgbClr val="1E3272"/>
                          </a:solidFill>
                          <a:effectLst/>
                        </a:rPr>
                        <a:t>Ultra large scale IC</a:t>
                      </a:r>
                      <a:endParaRPr kumimoji="0" lang="en-AU" sz="2400" b="1" i="0" u="none" strike="noStrike" cap="none" normalizeH="0" baseline="0" dirty="0" smtClean="0">
                        <a:ln>
                          <a:solidFill>
                            <a:srgbClr val="273272"/>
                          </a:solidFill>
                        </a:ln>
                        <a:solidFill>
                          <a:srgbClr val="1E3272"/>
                        </a:solidFill>
                        <a:effectLst/>
                        <a:latin typeface="+mn-lt"/>
                      </a:endParaRPr>
                    </a:p>
                  </a:txBody>
                  <a:tcPr marT="45671" marB="4567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2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AU" sz="2400" u="none" strike="noStrike" cap="none" normalizeH="0" baseline="0" dirty="0" smtClean="0">
                          <a:ln>
                            <a:solidFill>
                              <a:srgbClr val="273272"/>
                            </a:solidFill>
                          </a:ln>
                          <a:solidFill>
                            <a:srgbClr val="1E3272"/>
                          </a:solidFill>
                          <a:effectLst/>
                        </a:rPr>
                        <a:t>250,000,000,000</a:t>
                      </a:r>
                      <a:endParaRPr kumimoji="0" lang="en-AU" sz="2400" b="1" i="0" u="none" strike="noStrike" cap="none" normalizeH="0" baseline="0" dirty="0" smtClean="0">
                        <a:ln>
                          <a:solidFill>
                            <a:srgbClr val="273272"/>
                          </a:solidFill>
                        </a:ln>
                        <a:solidFill>
                          <a:srgbClr val="1E3272"/>
                        </a:solidFill>
                        <a:effectLst/>
                        <a:latin typeface="+mn-lt"/>
                      </a:endParaRPr>
                    </a:p>
                  </a:txBody>
                  <a:tcPr marT="45671" marB="45671"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21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xmlns="" val="11535045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838230" y="1178053"/>
            <a:ext cx="10299670" cy="5492304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Gordon Moore (1929-...) cofounded Intel in 1968 with Robert </a:t>
            </a:r>
            <a:r>
              <a:rPr lang="en-US" dirty="0" smtClean="0"/>
              <a:t>Noyce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b="1" dirty="0" smtClean="0"/>
              <a:t>Moore’s </a:t>
            </a:r>
            <a:r>
              <a:rPr lang="en-US" b="1" dirty="0"/>
              <a:t>Law: </a:t>
            </a:r>
            <a:r>
              <a:rPr lang="en-US" dirty="0"/>
              <a:t>number of transistors on a computer chip doubles every </a:t>
            </a:r>
            <a:r>
              <a:rPr lang="en-US" dirty="0" smtClean="0"/>
              <a:t>year (observed in 1965)</a:t>
            </a:r>
          </a:p>
          <a:p>
            <a:pPr>
              <a:lnSpc>
                <a:spcPct val="150000"/>
              </a:lnSpc>
            </a:pPr>
            <a:r>
              <a:rPr lang="en-US" dirty="0" smtClean="0"/>
              <a:t>Limited by power consumption </a:t>
            </a:r>
          </a:p>
          <a:p>
            <a:pPr>
              <a:lnSpc>
                <a:spcPct val="150000"/>
              </a:lnSpc>
            </a:pPr>
            <a:r>
              <a:rPr lang="en-US" dirty="0" smtClean="0"/>
              <a:t>Slowed down since 2010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1397BFD8-F312-4EF2-A268-44FB4BDDBBB0}" type="slidenum">
              <a:rPr lang="ru-RU" smtClean="0"/>
              <a:pPr algn="ctr"/>
              <a:t>20</a:t>
            </a:fld>
            <a:endParaRPr lang="ru-R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Moore’s Law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6640146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1397BFD8-F312-4EF2-A268-44FB4BDDBBB0}" type="slidenum">
              <a:rPr lang="ru-RU" smtClean="0"/>
              <a:pPr algn="ctr"/>
              <a:t>21</a:t>
            </a:fld>
            <a:endParaRPr lang="ru-RU" dirty="0"/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Single Core Performance</a:t>
            </a:r>
            <a:endParaRPr lang="ru-RU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269160" y="1029301"/>
            <a:ext cx="9371076" cy="5235321"/>
          </a:xfrm>
          <a:prstGeom prst="rect">
            <a:avLst/>
          </a:prstGeom>
        </p:spPr>
      </p:pic>
      <p:sp>
        <p:nvSpPr>
          <p:cNvPr id="6" name="AutoShape 7"/>
          <p:cNvSpPr>
            <a:spLocks/>
          </p:cNvSpPr>
          <p:nvPr/>
        </p:nvSpPr>
        <p:spPr bwMode="auto">
          <a:xfrm>
            <a:off x="2196548" y="6301690"/>
            <a:ext cx="7486649" cy="387346"/>
          </a:xfrm>
          <a:prstGeom prst="borderCallout1">
            <a:avLst>
              <a:gd name="adj1" fmla="val -18326"/>
              <a:gd name="adj2" fmla="val 90883"/>
              <a:gd name="adj3" fmla="val -468578"/>
              <a:gd name="adj4" fmla="val 105938"/>
            </a:avLst>
          </a:prstGeom>
          <a:solidFill>
            <a:schemeClr val="accent1"/>
          </a:solidFill>
          <a:ln w="25400">
            <a:solidFill>
              <a:srgbClr val="273272"/>
            </a:solidFill>
            <a:miter lim="800000"/>
            <a:headEnd/>
            <a:tailEnd type="triangle" w="med" len="med"/>
          </a:ln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50000"/>
              </a:spcBef>
              <a:buClrTx/>
              <a:buSzTx/>
              <a:buFontTx/>
              <a:buNone/>
            </a:pPr>
            <a:r>
              <a:rPr lang="en-AU" altLang="en-US" sz="2000" dirty="0">
                <a:latin typeface="+mn-lt"/>
              </a:rPr>
              <a:t>Constrained by power, instruction-level parallelism, memory latency</a:t>
            </a:r>
          </a:p>
        </p:txBody>
      </p:sp>
      <p:sp>
        <p:nvSpPr>
          <p:cNvPr id="7" name="Text Box 8"/>
          <p:cNvSpPr txBox="1">
            <a:spLocks noChangeArrowheads="1"/>
          </p:cNvSpPr>
          <p:nvPr/>
        </p:nvSpPr>
        <p:spPr bwMode="auto">
          <a:xfrm>
            <a:off x="4177680" y="1016124"/>
            <a:ext cx="3240360" cy="4001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en-US" sz="2000" dirty="0" smtClean="0">
                <a:solidFill>
                  <a:srgbClr val="FF0000"/>
                </a:solidFill>
              </a:rPr>
              <a:t>Move to multicore</a:t>
            </a:r>
            <a:endParaRPr lang="en-GB" sz="2000" dirty="0">
              <a:solidFill>
                <a:srgbClr val="FF0000"/>
              </a:solidFill>
            </a:endParaRPr>
          </a:p>
        </p:txBody>
      </p:sp>
      <p:cxnSp>
        <p:nvCxnSpPr>
          <p:cNvPr id="8" name="Straight Arrow Connector 7"/>
          <p:cNvCxnSpPr/>
          <p:nvPr/>
        </p:nvCxnSpPr>
        <p:spPr bwMode="auto">
          <a:xfrm>
            <a:off x="6464688" y="1399594"/>
            <a:ext cx="1152132" cy="864096"/>
          </a:xfrm>
          <a:prstGeom prst="straightConnector1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xmlns="" val="19741971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1397BFD8-F312-4EF2-A268-44FB4BDDBBB0}" type="slidenum">
              <a:rPr lang="ru-RU" smtClean="0"/>
              <a:pPr algn="ctr"/>
              <a:t>22</a:t>
            </a:fld>
            <a:endParaRPr lang="ru-R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Power Trends</a:t>
            </a:r>
            <a:endParaRPr lang="en-US" dirty="0"/>
          </a:p>
        </p:txBody>
      </p:sp>
      <p:pic>
        <p:nvPicPr>
          <p:cNvPr id="5" name="Picture 11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838201" y="1295416"/>
            <a:ext cx="10532504" cy="46227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xmlns="" val="22704593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1397BFD8-F312-4EF2-A268-44FB4BDDBBB0}" type="slidenum">
              <a:rPr lang="ru-RU" smtClean="0"/>
              <a:pPr algn="ctr"/>
              <a:t>23</a:t>
            </a:fld>
            <a:endParaRPr lang="ru-R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Memory Performance Gap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160219" y="1372715"/>
            <a:ext cx="9615812" cy="4818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40952916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855104" y="1019056"/>
            <a:ext cx="10515600" cy="5282353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 smtClean="0"/>
              <a:t>Single core performance </a:t>
            </a:r>
            <a:r>
              <a:rPr lang="en-US" dirty="0"/>
              <a:t>improvement </a:t>
            </a:r>
            <a:r>
              <a:rPr lang="en-US" dirty="0" smtClean="0"/>
              <a:t>has ended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dirty="0" smtClean="0"/>
              <a:t>More powerful microprocessor might not help</a:t>
            </a:r>
            <a:endParaRPr lang="en-US" sz="3200" dirty="0"/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 smtClean="0"/>
              <a:t>Memory-efficient programming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dirty="0" smtClean="0"/>
              <a:t>Temporal locality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dirty="0" smtClean="0"/>
              <a:t>Spatial locality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 smtClean="0"/>
              <a:t>Parallelism to improve performance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dirty="0" smtClean="0"/>
              <a:t>Data-level parallelism</a:t>
            </a:r>
            <a:endParaRPr lang="en-US" dirty="0"/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Thread-level </a:t>
            </a:r>
            <a:r>
              <a:rPr lang="en-US" dirty="0" smtClean="0"/>
              <a:t>parallelism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dirty="0" smtClean="0"/>
              <a:t>Request-level parallelism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 smtClean="0"/>
              <a:t>Performance tuning require changes in the application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1397BFD8-F312-4EF2-A268-44FB4BDDBBB0}" type="slidenum">
              <a:rPr lang="ru-RU" smtClean="0"/>
              <a:pPr algn="ctr"/>
              <a:t>24</a:t>
            </a:fld>
            <a:endParaRPr lang="ru-R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Current Challenges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3248192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838200" y="1070928"/>
            <a:ext cx="6314742" cy="5492304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sz="3900" dirty="0" smtClean="0"/>
              <a:t>To create software that efficiently deals with big data, we need to understand how hardware is organized and managed by operating system </a:t>
            </a:r>
          </a:p>
          <a:p>
            <a:pPr lvl="1">
              <a:lnSpc>
                <a:spcPct val="150000"/>
              </a:lnSpc>
            </a:pPr>
            <a:r>
              <a:rPr lang="en-US" sz="3800" dirty="0" smtClean="0"/>
              <a:t>Computer architecture</a:t>
            </a:r>
          </a:p>
          <a:p>
            <a:pPr lvl="1">
              <a:lnSpc>
                <a:spcPct val="150000"/>
              </a:lnSpc>
            </a:pPr>
            <a:r>
              <a:rPr lang="en-US" sz="3800" dirty="0" smtClean="0"/>
              <a:t>Assembly language</a:t>
            </a:r>
          </a:p>
          <a:p>
            <a:pPr lvl="1">
              <a:lnSpc>
                <a:spcPct val="150000"/>
              </a:lnSpc>
            </a:pPr>
            <a:r>
              <a:rPr lang="en-US" sz="3800" dirty="0" smtClean="0"/>
              <a:t>Compiler basics</a:t>
            </a:r>
          </a:p>
          <a:p>
            <a:pPr lvl="1">
              <a:lnSpc>
                <a:spcPct val="150000"/>
              </a:lnSpc>
            </a:pPr>
            <a:r>
              <a:rPr lang="en-US" sz="3800" dirty="0" smtClean="0"/>
              <a:t>Operating systems</a:t>
            </a:r>
            <a:endParaRPr lang="en-US" sz="3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1397BFD8-F312-4EF2-A268-44FB4BDDBBB0}" type="slidenum">
              <a:rPr lang="ru-RU" smtClean="0"/>
              <a:pPr algn="ctr"/>
              <a:t>25</a:t>
            </a:fld>
            <a:endParaRPr lang="ru-R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Concluding Remarks</a:t>
            </a:r>
            <a:endParaRPr lang="en-US" dirty="0"/>
          </a:p>
        </p:txBody>
      </p:sp>
      <p:pic>
        <p:nvPicPr>
          <p:cNvPr id="5" name="Picture 11"/>
          <p:cNvPicPr>
            <a:picLocks noChangeAspect="1" noChangeArrowheads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7420142" y="1095754"/>
            <a:ext cx="2268187" cy="55420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Левая фигурная скобка 9"/>
          <p:cNvSpPr/>
          <p:nvPr/>
        </p:nvSpPr>
        <p:spPr>
          <a:xfrm rot="10800000">
            <a:off x="9795067" y="1110684"/>
            <a:ext cx="570015" cy="2410690"/>
          </a:xfrm>
          <a:prstGeom prst="leftBrace">
            <a:avLst/>
          </a:prstGeom>
          <a:ln w="50800">
            <a:solidFill>
              <a:srgbClr val="F7B2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10277649" y="2506124"/>
            <a:ext cx="1058462" cy="1128156"/>
          </a:xfrm>
          <a:prstGeom prst="rect">
            <a:avLst/>
          </a:prstGeom>
          <a:noFill/>
        </p:spPr>
        <p:txBody>
          <a:bodyPr wrap="square" lIns="72000" tIns="25200" rIns="0" bIns="25200" rtlCol="0" anchor="ctr" anchorCtr="0">
            <a:noAutofit/>
          </a:bodyPr>
          <a:lstStyle/>
          <a:p>
            <a:r>
              <a:rPr lang="en-US" sz="2800" b="1" dirty="0" smtClean="0">
                <a:solidFill>
                  <a:srgbClr val="273272"/>
                </a:solidFill>
                <a:cs typeface="Times New Roman" pitchFamily="18" charset="0"/>
              </a:rPr>
              <a:t>Focus</a:t>
            </a:r>
          </a:p>
          <a:p>
            <a:r>
              <a:rPr lang="en-US" sz="2800" b="1" dirty="0" smtClean="0">
                <a:solidFill>
                  <a:srgbClr val="273272"/>
                </a:solidFill>
                <a:cs typeface="Times New Roman" pitchFamily="18" charset="0"/>
              </a:rPr>
              <a:t>of this course</a:t>
            </a:r>
            <a:endParaRPr lang="ru-RU" sz="2800" b="1" dirty="0" smtClean="0">
              <a:solidFill>
                <a:srgbClr val="273272"/>
              </a:solidFill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2931267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664999" y="472120"/>
            <a:ext cx="7524751" cy="5262979"/>
          </a:xfrm>
          <a:prstGeom prst="rect">
            <a:avLst/>
          </a:prstGeom>
          <a:noFill/>
          <a:ln>
            <a:noFill/>
          </a:ln>
          <a:scene3d>
            <a:camera prst="perspectiveRelaxed"/>
            <a:lightRig rig="threePt" dir="t"/>
          </a:scene3d>
        </p:spPr>
        <p:txBody>
          <a:bodyPr wrap="square" lIns="91440" tIns="45720" rIns="91440" bIns="45720">
            <a:spAutoFit/>
          </a:bodyPr>
          <a:lstStyle/>
          <a:p>
            <a:r>
              <a:rPr lang="en-US" sz="2400" dirty="0" smtClean="0">
                <a:ln w="0"/>
                <a:solidFill>
                  <a:srgbClr val="273272"/>
                </a:solidFill>
                <a:effectLst>
                  <a:reflection blurRad="6350" stA="53000" endA="300" endPos="35500" dir="5400000" sy="-90000" algn="bl" rotWithShape="0"/>
                </a:effectLst>
                <a:latin typeface="Courier New" pitchFamily="49" charset="0"/>
                <a:cs typeface="Courier New" pitchFamily="49" charset="0"/>
              </a:rPr>
              <a:t>		</a:t>
            </a:r>
          </a:p>
          <a:p>
            <a:r>
              <a:rPr lang="en-US" sz="2400" dirty="0" smtClean="0">
                <a:ln w="0"/>
                <a:solidFill>
                  <a:srgbClr val="273272"/>
                </a:solidFill>
                <a:effectLst>
                  <a:reflection blurRad="6350" stA="53000" endA="300" endPos="35500" dir="5400000" sy="-90000" algn="bl" rotWithShape="0"/>
                </a:effectLst>
                <a:latin typeface="Courier New" pitchFamily="49" charset="0"/>
                <a:cs typeface="Courier New" pitchFamily="49" charset="0"/>
              </a:rPr>
              <a:t>		.text</a:t>
            </a:r>
          </a:p>
          <a:p>
            <a:r>
              <a:rPr lang="en-US" sz="2400" dirty="0" smtClean="0">
                <a:ln w="0"/>
                <a:solidFill>
                  <a:srgbClr val="273272"/>
                </a:solidFill>
                <a:effectLst>
                  <a:reflection blurRad="6350" stA="53000" endA="300" endPos="35500" dir="5400000" sy="-90000" algn="bl" rotWithShape="0"/>
                </a:effectLst>
                <a:latin typeface="Courier New" pitchFamily="49" charset="0"/>
                <a:cs typeface="Courier New" pitchFamily="49" charset="0"/>
              </a:rPr>
              <a:t>__start:	</a:t>
            </a:r>
            <a:r>
              <a:rPr lang="en-US" sz="2400" dirty="0" err="1" smtClean="0">
                <a:ln w="0"/>
                <a:solidFill>
                  <a:srgbClr val="273272"/>
                </a:solidFill>
                <a:effectLst>
                  <a:reflection blurRad="6350" stA="53000" endA="300" endPos="35500" dir="5400000" sy="-90000" algn="bl" rotWithShape="0"/>
                </a:effectLst>
                <a:latin typeface="Courier New" pitchFamily="49" charset="0"/>
                <a:cs typeface="Courier New" pitchFamily="49" charset="0"/>
              </a:rPr>
              <a:t>addi</a:t>
            </a:r>
            <a:r>
              <a:rPr lang="en-US" sz="2400" dirty="0" smtClean="0">
                <a:ln w="0"/>
                <a:solidFill>
                  <a:srgbClr val="273272"/>
                </a:solidFill>
                <a:effectLst>
                  <a:reflection blurRad="6350" stA="53000" endA="300" endPos="35500" dir="5400000" sy="-90000" algn="bl" rotWithShape="0"/>
                </a:effectLst>
                <a:latin typeface="Courier New" pitchFamily="49" charset="0"/>
                <a:cs typeface="Courier New" pitchFamily="49" charset="0"/>
              </a:rPr>
              <a:t> t1, zero, 0x18</a:t>
            </a:r>
          </a:p>
          <a:p>
            <a:r>
              <a:rPr lang="en-US" sz="2400" dirty="0" smtClean="0">
                <a:ln w="0"/>
                <a:solidFill>
                  <a:srgbClr val="273272"/>
                </a:solidFill>
                <a:effectLst>
                  <a:reflection blurRad="6350" stA="53000" endA="300" endPos="35500" dir="5400000" sy="-90000" algn="bl" rotWithShape="0"/>
                </a:effectLst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2400" dirty="0" err="1" smtClean="0">
                <a:ln w="0"/>
                <a:solidFill>
                  <a:srgbClr val="273272"/>
                </a:solidFill>
                <a:effectLst>
                  <a:reflection blurRad="6350" stA="53000" endA="300" endPos="35500" dir="5400000" sy="-90000" algn="bl" rotWithShape="0"/>
                </a:effectLst>
                <a:latin typeface="Courier New" pitchFamily="49" charset="0"/>
                <a:cs typeface="Courier New" pitchFamily="49" charset="0"/>
              </a:rPr>
              <a:t>addi</a:t>
            </a:r>
            <a:r>
              <a:rPr lang="en-US" sz="2400" dirty="0" smtClean="0">
                <a:ln w="0"/>
                <a:solidFill>
                  <a:srgbClr val="273272"/>
                </a:solidFill>
                <a:effectLst>
                  <a:reflection blurRad="6350" stA="53000" endA="300" endPos="35500" dir="5400000" sy="-90000" algn="bl" rotWithShape="0"/>
                </a:effectLst>
                <a:latin typeface="Courier New" pitchFamily="49" charset="0"/>
                <a:cs typeface="Courier New" pitchFamily="49" charset="0"/>
              </a:rPr>
              <a:t> t2, zero, 0x21</a:t>
            </a:r>
          </a:p>
          <a:p>
            <a:r>
              <a:rPr lang="en-US" sz="2400" dirty="0" smtClean="0">
                <a:ln w="0"/>
                <a:solidFill>
                  <a:srgbClr val="273272"/>
                </a:solidFill>
                <a:effectLst>
                  <a:reflection blurRad="6350" stA="53000" endA="300" endPos="35500" dir="5400000" sy="-90000" algn="bl" rotWithShape="0"/>
                </a:effectLst>
                <a:latin typeface="Courier New" pitchFamily="49" charset="0"/>
                <a:cs typeface="Courier New" pitchFamily="49" charset="0"/>
              </a:rPr>
              <a:t>cycle:	</a:t>
            </a:r>
            <a:r>
              <a:rPr lang="en-US" sz="2400" dirty="0" err="1" smtClean="0">
                <a:ln w="0"/>
                <a:solidFill>
                  <a:srgbClr val="273272"/>
                </a:solidFill>
                <a:effectLst>
                  <a:reflection blurRad="6350" stA="53000" endA="300" endPos="35500" dir="5400000" sy="-90000" algn="bl" rotWithShape="0"/>
                </a:effectLst>
                <a:latin typeface="Courier New" pitchFamily="49" charset="0"/>
                <a:cs typeface="Courier New" pitchFamily="49" charset="0"/>
              </a:rPr>
              <a:t>beq</a:t>
            </a:r>
            <a:r>
              <a:rPr lang="en-US" sz="2400" dirty="0" smtClean="0">
                <a:ln w="0"/>
                <a:solidFill>
                  <a:srgbClr val="273272"/>
                </a:solidFill>
                <a:effectLst>
                  <a:reflection blurRad="6350" stA="53000" endA="300" endPos="35500" dir="5400000" sy="-90000" algn="bl" rotWithShape="0"/>
                </a:effectLst>
                <a:latin typeface="Courier New" pitchFamily="49" charset="0"/>
                <a:cs typeface="Courier New" pitchFamily="49" charset="0"/>
              </a:rPr>
              <a:t> t1, t2, done</a:t>
            </a:r>
          </a:p>
          <a:p>
            <a:r>
              <a:rPr lang="en-US" sz="2400" dirty="0" smtClean="0">
                <a:ln w="0"/>
                <a:solidFill>
                  <a:srgbClr val="273272"/>
                </a:solidFill>
                <a:effectLst>
                  <a:reflection blurRad="6350" stA="53000" endA="300" endPos="35500" dir="5400000" sy="-90000" algn="bl" rotWithShape="0"/>
                </a:effectLst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2400" dirty="0" err="1" smtClean="0">
                <a:ln w="0"/>
                <a:solidFill>
                  <a:srgbClr val="273272"/>
                </a:solidFill>
                <a:effectLst>
                  <a:reflection blurRad="6350" stA="53000" endA="300" endPos="35500" dir="5400000" sy="-90000" algn="bl" rotWithShape="0"/>
                </a:effectLst>
                <a:latin typeface="Courier New" pitchFamily="49" charset="0"/>
                <a:cs typeface="Courier New" pitchFamily="49" charset="0"/>
              </a:rPr>
              <a:t>slt</a:t>
            </a:r>
            <a:r>
              <a:rPr lang="en-US" sz="2400" dirty="0" smtClean="0">
                <a:ln w="0"/>
                <a:solidFill>
                  <a:srgbClr val="273272"/>
                </a:solidFill>
                <a:effectLst>
                  <a:reflection blurRad="6350" stA="53000" endA="300" endPos="35500" dir="5400000" sy="-90000" algn="bl" rotWithShape="0"/>
                </a:effectLst>
                <a:latin typeface="Courier New" pitchFamily="49" charset="0"/>
                <a:cs typeface="Courier New" pitchFamily="49" charset="0"/>
              </a:rPr>
              <a:t> t0, t1, t2</a:t>
            </a:r>
          </a:p>
          <a:p>
            <a:r>
              <a:rPr lang="en-US" sz="2400" dirty="0" smtClean="0">
                <a:ln w="0"/>
                <a:solidFill>
                  <a:srgbClr val="273272"/>
                </a:solidFill>
                <a:effectLst>
                  <a:reflection blurRad="6350" stA="53000" endA="300" endPos="35500" dir="5400000" sy="-90000" algn="bl" rotWithShape="0"/>
                </a:effectLst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2400" dirty="0" err="1" smtClean="0">
                <a:ln w="0"/>
                <a:solidFill>
                  <a:srgbClr val="273272"/>
                </a:solidFill>
                <a:effectLst>
                  <a:reflection blurRad="6350" stA="53000" endA="300" endPos="35500" dir="5400000" sy="-90000" algn="bl" rotWithShape="0"/>
                </a:effectLst>
                <a:latin typeface="Courier New" pitchFamily="49" charset="0"/>
                <a:cs typeface="Courier New" pitchFamily="49" charset="0"/>
              </a:rPr>
              <a:t>bne</a:t>
            </a:r>
            <a:r>
              <a:rPr lang="en-US" sz="2400" dirty="0" smtClean="0">
                <a:ln w="0"/>
                <a:solidFill>
                  <a:srgbClr val="273272"/>
                </a:solidFill>
                <a:effectLst>
                  <a:reflection blurRad="6350" stA="53000" endA="300" endPos="35500" dir="5400000" sy="-90000" algn="bl" rotWithShape="0"/>
                </a:effectLst>
                <a:latin typeface="Courier New" pitchFamily="49" charset="0"/>
                <a:cs typeface="Courier New" pitchFamily="49" charset="0"/>
              </a:rPr>
              <a:t> t0, zero, </a:t>
            </a:r>
            <a:r>
              <a:rPr lang="en-US" sz="2400" dirty="0" err="1" smtClean="0">
                <a:ln w="0"/>
                <a:solidFill>
                  <a:srgbClr val="273272"/>
                </a:solidFill>
                <a:effectLst>
                  <a:reflection blurRad="6350" stA="53000" endA="300" endPos="35500" dir="5400000" sy="-90000" algn="bl" rotWithShape="0"/>
                </a:effectLst>
                <a:latin typeface="Courier New" pitchFamily="49" charset="0"/>
                <a:cs typeface="Courier New" pitchFamily="49" charset="0"/>
              </a:rPr>
              <a:t>if_less</a:t>
            </a:r>
            <a:endParaRPr lang="en-US" sz="2400" dirty="0" smtClean="0">
              <a:ln w="0"/>
              <a:solidFill>
                <a:srgbClr val="273272"/>
              </a:solidFill>
              <a:effectLst>
                <a:reflection blurRad="6350" stA="53000" endA="300" endPos="35500" dir="5400000" sy="-90000" algn="bl" rotWithShape="0"/>
              </a:effectLst>
              <a:latin typeface="Courier New" pitchFamily="49" charset="0"/>
              <a:cs typeface="Courier New" pitchFamily="49" charset="0"/>
            </a:endParaRPr>
          </a:p>
          <a:p>
            <a:r>
              <a:rPr lang="en-US" sz="2400" dirty="0" smtClean="0">
                <a:ln w="0"/>
                <a:solidFill>
                  <a:srgbClr val="273272"/>
                </a:solidFill>
                <a:effectLst>
                  <a:reflection blurRad="6350" stA="53000" endA="300" endPos="35500" dir="5400000" sy="-90000" algn="bl" rotWithShape="0"/>
                </a:effectLst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2400" dirty="0" err="1" smtClean="0">
                <a:ln w="0"/>
                <a:solidFill>
                  <a:srgbClr val="273272"/>
                </a:solidFill>
                <a:effectLst>
                  <a:reflection blurRad="6350" stA="53000" endA="300" endPos="35500" dir="5400000" sy="-90000" algn="bl" rotWithShape="0"/>
                </a:effectLst>
                <a:latin typeface="Courier New" pitchFamily="49" charset="0"/>
                <a:cs typeface="Courier New" pitchFamily="49" charset="0"/>
              </a:rPr>
              <a:t>nop</a:t>
            </a:r>
            <a:endParaRPr lang="en-US" sz="2400" dirty="0" smtClean="0">
              <a:ln w="0"/>
              <a:solidFill>
                <a:srgbClr val="273272"/>
              </a:solidFill>
              <a:effectLst>
                <a:reflection blurRad="6350" stA="53000" endA="300" endPos="35500" dir="5400000" sy="-90000" algn="bl" rotWithShape="0"/>
              </a:effectLst>
              <a:latin typeface="Courier New" pitchFamily="49" charset="0"/>
              <a:cs typeface="Courier New" pitchFamily="49" charset="0"/>
            </a:endParaRPr>
          </a:p>
          <a:p>
            <a:r>
              <a:rPr lang="en-US" sz="2400" dirty="0" smtClean="0">
                <a:ln w="0"/>
                <a:solidFill>
                  <a:srgbClr val="273272"/>
                </a:solidFill>
                <a:effectLst>
                  <a:reflection blurRad="6350" stA="53000" endA="300" endPos="35500" dir="5400000" sy="-90000" algn="bl" rotWithShape="0"/>
                </a:effectLst>
                <a:latin typeface="Courier New" pitchFamily="49" charset="0"/>
                <a:cs typeface="Courier New" pitchFamily="49" charset="0"/>
              </a:rPr>
              <a:t>		sub t1, t1, t2</a:t>
            </a:r>
          </a:p>
          <a:p>
            <a:r>
              <a:rPr lang="en-US" sz="2400" dirty="0" smtClean="0">
                <a:ln w="0"/>
                <a:solidFill>
                  <a:srgbClr val="273272"/>
                </a:solidFill>
                <a:effectLst>
                  <a:reflection blurRad="6350" stA="53000" endA="300" endPos="35500" dir="5400000" sy="-90000" algn="bl" rotWithShape="0"/>
                </a:effectLst>
                <a:latin typeface="Courier New" pitchFamily="49" charset="0"/>
                <a:cs typeface="Courier New" pitchFamily="49" charset="0"/>
              </a:rPr>
              <a:t>		j cycle</a:t>
            </a:r>
          </a:p>
          <a:p>
            <a:r>
              <a:rPr lang="en-US" sz="2400" dirty="0" smtClean="0">
                <a:ln w="0"/>
                <a:solidFill>
                  <a:srgbClr val="273272"/>
                </a:solidFill>
                <a:effectLst>
                  <a:reflection blurRad="6350" stA="53000" endA="300" endPos="35500" dir="5400000" sy="-90000" algn="bl" rotWithShape="0"/>
                </a:effectLst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2400" dirty="0" err="1" smtClean="0">
                <a:ln w="0"/>
                <a:solidFill>
                  <a:srgbClr val="273272"/>
                </a:solidFill>
                <a:effectLst>
                  <a:reflection blurRad="6350" stA="53000" endA="300" endPos="35500" dir="5400000" sy="-90000" algn="bl" rotWithShape="0"/>
                </a:effectLst>
                <a:latin typeface="Courier New" pitchFamily="49" charset="0"/>
                <a:cs typeface="Courier New" pitchFamily="49" charset="0"/>
              </a:rPr>
              <a:t>nop</a:t>
            </a:r>
            <a:endParaRPr lang="en-US" sz="2400" dirty="0" smtClean="0">
              <a:ln w="0"/>
              <a:solidFill>
                <a:srgbClr val="273272"/>
              </a:solidFill>
              <a:effectLst>
                <a:reflection blurRad="6350" stA="53000" endA="300" endPos="35500" dir="5400000" sy="-90000" algn="bl" rotWithShape="0"/>
              </a:effectLst>
              <a:latin typeface="Courier New" pitchFamily="49" charset="0"/>
              <a:cs typeface="Courier New" pitchFamily="49" charset="0"/>
            </a:endParaRPr>
          </a:p>
          <a:p>
            <a:r>
              <a:rPr lang="en-US" sz="2400" dirty="0" err="1" smtClean="0">
                <a:ln w="0"/>
                <a:solidFill>
                  <a:srgbClr val="273272"/>
                </a:solidFill>
                <a:effectLst>
                  <a:reflection blurRad="6350" stA="53000" endA="300" endPos="35500" dir="5400000" sy="-90000" algn="bl" rotWithShape="0"/>
                </a:effectLst>
                <a:latin typeface="Courier New" pitchFamily="49" charset="0"/>
                <a:cs typeface="Courier New" pitchFamily="49" charset="0"/>
              </a:rPr>
              <a:t>if_less</a:t>
            </a:r>
            <a:r>
              <a:rPr lang="en-US" sz="2400" dirty="0" smtClean="0">
                <a:ln w="0"/>
                <a:solidFill>
                  <a:srgbClr val="273272"/>
                </a:solidFill>
                <a:effectLst>
                  <a:reflection blurRad="6350" stA="53000" endA="300" endPos="35500" dir="5400000" sy="-90000" algn="bl" rotWithShape="0"/>
                </a:effectLst>
                <a:latin typeface="Courier New" pitchFamily="49" charset="0"/>
                <a:cs typeface="Courier New" pitchFamily="49" charset="0"/>
              </a:rPr>
              <a:t>:	sub t2, t2, t1</a:t>
            </a:r>
          </a:p>
          <a:p>
            <a:r>
              <a:rPr lang="en-US" sz="2400" dirty="0" smtClean="0">
                <a:ln w="0"/>
                <a:solidFill>
                  <a:srgbClr val="273272"/>
                </a:solidFill>
                <a:effectLst>
                  <a:reflection blurRad="6350" stA="53000" endA="300" endPos="35500" dir="5400000" sy="-90000" algn="bl" rotWithShape="0"/>
                </a:effectLst>
                <a:latin typeface="Courier New" pitchFamily="49" charset="0"/>
                <a:cs typeface="Courier New" pitchFamily="49" charset="0"/>
              </a:rPr>
              <a:t>		j cycle</a:t>
            </a:r>
          </a:p>
          <a:p>
            <a:r>
              <a:rPr lang="en-US" sz="2400" dirty="0" smtClean="0">
                <a:ln w="0"/>
                <a:solidFill>
                  <a:srgbClr val="273272"/>
                </a:solidFill>
                <a:effectLst>
                  <a:reflection blurRad="6350" stA="53000" endA="300" endPos="35500" dir="5400000" sy="-90000" algn="bl" rotWithShape="0"/>
                </a:effectLst>
                <a:latin typeface="Courier New" pitchFamily="49" charset="0"/>
                <a:cs typeface="Courier New" pitchFamily="49" charset="0"/>
              </a:rPr>
              <a:t>done:		add t3, t1, zero</a:t>
            </a:r>
            <a:endParaRPr lang="ru-RU" sz="2400" b="0" cap="none" spc="0" dirty="0">
              <a:ln w="0"/>
              <a:solidFill>
                <a:srgbClr val="273272"/>
              </a:solidFill>
              <a:effectLst>
                <a:reflection blurRad="6350" stA="53000" endA="300" endPos="35500" dir="5400000" sy="-90000" algn="bl" rotWithShape="0"/>
              </a:effectLst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Any Questions?</a:t>
            </a:r>
            <a:endParaRPr lang="ru-RU" sz="4000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1397BFD8-F312-4EF2-A268-44FB4BDDBBB0}" type="slidenum">
              <a:rPr lang="ru-RU" smtClean="0"/>
              <a:pPr algn="ctr"/>
              <a:t>26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42178750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Дымчатое стекло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hade val="100000"/>
                <a:satMod val="100000"/>
              </a:schemeClr>
            </a:gs>
            <a:gs pos="100000">
              <a:schemeClr val="phClr">
                <a:tint val="61000"/>
                <a:alpha val="100000"/>
                <a:satMod val="18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</a:schemeClr>
            </a:gs>
            <a:gs pos="100000">
              <a:schemeClr val="phClr">
                <a:tint val="90000"/>
                <a:alpha val="100000"/>
                <a:satMod val="18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5240" cap="flat" cmpd="sng" algn="ctr">
          <a:solidFill>
            <a:schemeClr val="phClr">
              <a:tint val="25000"/>
              <a:alpha val="25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21590" dir="5400000" rotWithShape="0">
              <a:srgbClr val="000000">
                <a:alpha val="4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prstMaterial="flat">
            <a:bevelT w="28575" h="41275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solidFill>
          <a:schemeClr val="bg1"/>
        </a:solidFill>
      </a:spPr>
      <a:bodyPr wrap="square" lIns="72000" tIns="25200" rIns="0" bIns="25200" rtlCol="0" anchor="ctr" anchorCtr="0">
        <a:normAutofit/>
      </a:bodyPr>
      <a:lstStyle>
        <a:defPPr>
          <a:defRPr sz="4400" b="0" dirty="0" smtClean="0">
            <a:solidFill>
              <a:srgbClr val="2E5E8E"/>
            </a:solidFill>
            <a:latin typeface="+mj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TM03090434[[fn=Дерево]]</Template>
  <TotalTime>11146</TotalTime>
  <Words>962</Words>
  <Application>Microsoft Office PowerPoint</Application>
  <PresentationFormat>Произвольный</PresentationFormat>
  <Paragraphs>261</Paragraphs>
  <Slides>26</Slides>
  <Notes>2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27" baseType="lpstr">
      <vt:lpstr>Тема Office</vt:lpstr>
      <vt:lpstr>Computer Architecture and Operating Systems Lecture 1: Introduction</vt:lpstr>
      <vt:lpstr>Course Resources</vt:lpstr>
      <vt:lpstr>DSBA Course Team</vt:lpstr>
      <vt:lpstr>COMPDS Course Team</vt:lpstr>
      <vt:lpstr>Course Outline</vt:lpstr>
      <vt:lpstr>Course Motivation</vt:lpstr>
      <vt:lpstr>Example: Matrix Multiplication (part 1)</vt:lpstr>
      <vt:lpstr>Example: Matrix Multiplication (part 2)</vt:lpstr>
      <vt:lpstr>Example: Matrix Multiplication (part 3)</vt:lpstr>
      <vt:lpstr>Example: Matrix Multiplication (part 4)</vt:lpstr>
      <vt:lpstr>Example: Matrix Multiplication (part 5)</vt:lpstr>
      <vt:lpstr>What affects performance?</vt:lpstr>
      <vt:lpstr>History: 0th Generation – Mechanical</vt:lpstr>
      <vt:lpstr>History: 1st Generation - Vacuum Tubes</vt:lpstr>
      <vt:lpstr>History: 2nd Generation - Transistors</vt:lpstr>
      <vt:lpstr>History: 3rd Generation – Integrated Circuits</vt:lpstr>
      <vt:lpstr>History: 4th Generation – VLSI and PC </vt:lpstr>
      <vt:lpstr>History: 5th Generation – Mobile devices </vt:lpstr>
      <vt:lpstr>Technology Trends</vt:lpstr>
      <vt:lpstr>Moore’s Law</vt:lpstr>
      <vt:lpstr>Single Core Performance</vt:lpstr>
      <vt:lpstr>Power Trends</vt:lpstr>
      <vt:lpstr>Memory Performance Gap</vt:lpstr>
      <vt:lpstr>Current Challenges</vt:lpstr>
      <vt:lpstr>Concluding Remarks</vt:lpstr>
      <vt:lpstr>Any Questions?</vt:lpstr>
    </vt:vector>
  </TitlesOfParts>
  <Company>Microsoft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Computer Architecture and Operating Systems Lecture X: Lecture Topic</dc:title>
  <dc:creator>Sergey</dc:creator>
  <cp:lastModifiedBy>Sergey</cp:lastModifiedBy>
  <cp:revision>149</cp:revision>
  <dcterms:created xsi:type="dcterms:W3CDTF">2015-11-11T03:30:50Z</dcterms:created>
  <dcterms:modified xsi:type="dcterms:W3CDTF">2026-01-13T09:57:43Z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(2)G/0n5s0OJt210kN0rMWPVQgnJI6CDE+6BJT+m6OwLQhkCYjwBoWUkYgkanWIKkgRsYh1B8Uj
e9GKfJM6aX3r56ETiFwURgdOiBOzXg//2GJs86GhGmUDxNF53xchHKM7j5AmpDAb9kCVOthI
Vzwq8aqehDohU2q0rm75EVuWLFLycQxUptlmAykA+3y+mCquEUlzScYjU+C0yNJA0e25zFTR
VsiptQwuBlrGi0PH0B</vt:lpwstr>
  </property>
  <property fmtid="{D5CDD505-2E9C-101B-9397-08002B2CF9AE}" pid="3" name="_2015_ms_pID_7253431">
    <vt:lpwstr>cFpAZV5KZCnc4SP5f7FtzXr/76MDjckm9A3DXxVCfqeMgEQYiQ0I+M
4j2HbcKpUuwdcu9RQEEs4C2URPiN+OAiEjj+Hnx0ogsoNU0RUZ2tVUDezP69WF3SgS0C61Fy
Mt8fLffal9Igb8Y/bfA71baKTUgfKfEcrC/ahGnsp/HEWn8Mjtc1ed1HsSBiMbW5tJ3TsC4f
MGpi5EfdQ8hu73PY</vt:lpwstr>
  </property>
</Properties>
</file>