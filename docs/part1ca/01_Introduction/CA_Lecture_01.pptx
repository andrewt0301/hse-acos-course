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6" r:id="rId3"/>
    <p:sldId id="273" r:id="rId4"/>
    <p:sldId id="299" r:id="rId5"/>
    <p:sldId id="274" r:id="rId6"/>
    <p:sldId id="277" r:id="rId7"/>
    <p:sldId id="280" r:id="rId8"/>
    <p:sldId id="282" r:id="rId9"/>
    <p:sldId id="283" r:id="rId10"/>
    <p:sldId id="284" r:id="rId11"/>
    <p:sldId id="285" r:id="rId12"/>
    <p:sldId id="297" r:id="rId13"/>
    <p:sldId id="287" r:id="rId14"/>
    <p:sldId id="279" r:id="rId15"/>
    <p:sldId id="289" r:id="rId16"/>
    <p:sldId id="290" r:id="rId17"/>
    <p:sldId id="291" r:id="rId18"/>
    <p:sldId id="288" r:id="rId19"/>
    <p:sldId id="293" r:id="rId20"/>
    <p:sldId id="295" r:id="rId21"/>
    <p:sldId id="281" r:id="rId22"/>
    <p:sldId id="294" r:id="rId23"/>
    <p:sldId id="292" r:id="rId24"/>
    <p:sldId id="298" r:id="rId25"/>
    <p:sldId id="296" r:id="rId26"/>
    <p:sldId id="27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мкин Александр Сергеевич" initials="КАС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272"/>
    <a:srgbClr val="2F5CB5"/>
    <a:srgbClr val="F7B217"/>
    <a:srgbClr val="1E3272"/>
    <a:srgbClr val="F8BA30"/>
    <a:srgbClr val="FF6600"/>
    <a:srgbClr val="F07F09"/>
    <a:srgbClr val="FFC000"/>
    <a:srgbClr val="2E5E8E"/>
    <a:srgbClr val="2244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32" autoAdjust="0"/>
    <p:restoredTop sz="91484" autoAdjust="0"/>
  </p:normalViewPr>
  <p:slideViewPr>
    <p:cSldViewPr snapToGrid="0">
      <p:cViewPr varScale="1">
        <p:scale>
          <a:sx n="100" d="100"/>
          <a:sy n="100" d="100"/>
        </p:scale>
        <p:origin x="-85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072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06195-8D78-4F6F-B8E4-FA67975ACEF5}" type="datetimeFigureOut">
              <a:rPr lang="ru-RU" smtClean="0"/>
              <a:pPr/>
              <a:t>12.01.2026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301F6-630C-4517-9108-FC1E44EE8C8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2727997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212F1-C3D9-4F2B-8F42-5E960FE8BE51}" type="datetimeFigureOut">
              <a:rPr lang="ru-RU" smtClean="0"/>
              <a:pPr/>
              <a:t>12.01.2026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3B3A5-99BF-45D9-956B-DC57CC23AD9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502139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8179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1595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/>
          <p:nvPr userDrawn="1"/>
        </p:nvSpPr>
        <p:spPr>
          <a:xfrm>
            <a:off x="-1" y="2601087"/>
            <a:ext cx="12192001" cy="1603772"/>
          </a:xfrm>
          <a:prstGeom prst="rect">
            <a:avLst/>
          </a:prstGeom>
          <a:solidFill>
            <a:srgbClr val="2F5CB5"/>
          </a:solidFill>
          <a:ln w="19050" cap="sq" cmpd="sng" algn="ctr">
            <a:solidFill>
              <a:srgbClr val="FF660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6"/>
          <p:cNvSpPr/>
          <p:nvPr userDrawn="1"/>
        </p:nvSpPr>
        <p:spPr>
          <a:xfrm>
            <a:off x="0" y="2545985"/>
            <a:ext cx="12192000" cy="59883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9"/>
          <p:cNvSpPr/>
          <p:nvPr userDrawn="1"/>
        </p:nvSpPr>
        <p:spPr>
          <a:xfrm>
            <a:off x="0" y="4210574"/>
            <a:ext cx="12192000" cy="45719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0" y="2601227"/>
            <a:ext cx="12192000" cy="1840144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Рисунок 8" descr="logo_с_hse_cmyk_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34031" y="213770"/>
            <a:ext cx="1704213" cy="2196275"/>
          </a:xfrm>
          <a:prstGeom prst="rect">
            <a:avLst/>
          </a:prstGeom>
        </p:spPr>
      </p:pic>
      <p:pic>
        <p:nvPicPr>
          <p:cNvPr id="10" name="Рисунок 9" descr="Unknown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045713" y="21988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455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838200" y="123553"/>
            <a:ext cx="10515600" cy="842818"/>
          </a:xfrm>
          <a:prstGeom prst="rect">
            <a:avLst/>
          </a:prstGeom>
          <a:solidFill>
            <a:srgbClr val="2F5C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73272"/>
              </a:solidFill>
            </a:endParaRPr>
          </a:p>
        </p:txBody>
      </p:sp>
      <p:sp>
        <p:nvSpPr>
          <p:cNvPr id="21" name="Овал 20"/>
          <p:cNvSpPr/>
          <p:nvPr userDrawn="1"/>
        </p:nvSpPr>
        <p:spPr>
          <a:xfrm flipV="1">
            <a:off x="10775841" y="6190935"/>
            <a:ext cx="584617" cy="502173"/>
          </a:xfrm>
          <a:prstGeom prst="ellipse">
            <a:avLst/>
          </a:prstGeom>
          <a:solidFill>
            <a:srgbClr val="2F5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327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4997896"/>
          </a:xfrm>
        </p:spPr>
        <p:txBody>
          <a:bodyPr/>
          <a:lstStyle>
            <a:lvl1pPr>
              <a:buFont typeface="Wingdings" pitchFamily="2" charset="2"/>
              <a:buChar char="§"/>
              <a:defRPr sz="3600">
                <a:solidFill>
                  <a:srgbClr val="273272"/>
                </a:solidFill>
              </a:defRPr>
            </a:lvl1pPr>
            <a:lvl2pPr>
              <a:buClr>
                <a:srgbClr val="F7B217"/>
              </a:buClr>
              <a:buFont typeface="Wingdings" pitchFamily="2" charset="2"/>
              <a:buChar char="§"/>
              <a:defRPr sz="3200">
                <a:solidFill>
                  <a:srgbClr val="273272"/>
                </a:solidFill>
              </a:defRPr>
            </a:lvl2pPr>
            <a:lvl3pPr>
              <a:buFont typeface="Wingdings" pitchFamily="2" charset="2"/>
              <a:buChar char="§"/>
              <a:defRPr sz="2400">
                <a:solidFill>
                  <a:srgbClr val="273272"/>
                </a:solidFill>
              </a:defRPr>
            </a:lvl3pPr>
            <a:lvl4pPr>
              <a:defRPr sz="2000">
                <a:solidFill>
                  <a:srgbClr val="273272"/>
                </a:solidFill>
              </a:defRPr>
            </a:lvl4pPr>
            <a:lvl5pPr>
              <a:defRPr sz="1800">
                <a:solidFill>
                  <a:srgbClr val="27327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776031" y="6190938"/>
            <a:ext cx="594673" cy="479419"/>
          </a:xfrm>
        </p:spPr>
        <p:txBody>
          <a:bodyPr/>
          <a:lstStyle>
            <a:lvl1pPr>
              <a:defRPr sz="2000" b="1">
                <a:solidFill>
                  <a:srgbClr val="F7B217"/>
                </a:solidFill>
              </a:defRPr>
            </a:lvl1pPr>
          </a:lstStyle>
          <a:p>
            <a:pPr algn="ctr"/>
            <a:fld id="{1397BFD8-F312-4EF2-A268-44FB4BDDBBB0}" type="slidenum">
              <a:rPr lang="ru-RU" smtClean="0"/>
              <a:pPr algn="ctr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107867"/>
            <a:ext cx="10515600" cy="840215"/>
          </a:xfrm>
          <a:noFill/>
          <a:effectLst/>
        </p:spPr>
        <p:txBody>
          <a:bodyPr lIns="72000" tIns="25200" rIns="0" bIns="25200"/>
          <a:lstStyle>
            <a:lvl1pPr algn="ctr">
              <a:lnSpc>
                <a:spcPct val="100000"/>
              </a:lnSpc>
              <a:defRPr sz="4800" b="1">
                <a:solidFill>
                  <a:srgbClr val="F7B217"/>
                </a:solidFill>
              </a:defRPr>
            </a:lvl1pPr>
          </a:lstStyle>
          <a:p>
            <a:r>
              <a:rPr lang="en-US" dirty="0" smtClean="0"/>
              <a:t>Slide Header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569539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67076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10015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5590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9604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384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7791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52705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7111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4887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688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cs.hse.ru/ACOS_DSBA_2024/25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andrewt0301.github.io/hse-acos-cours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.me/+gTIDlXK1e3MyZjcy" TargetMode="External"/><Relationship Id="rId5" Type="http://schemas.openxmlformats.org/officeDocument/2006/relationships/hyperlink" Target="https://t.me/+wRC-TJXoI9M0ZmFi" TargetMode="External"/><Relationship Id="rId4" Type="http://schemas.openxmlformats.org/officeDocument/2006/relationships/hyperlink" Target="http://wiki.cs.hse.ru/ACOS_COMPDS_2024/202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0696"/>
            <a:ext cx="12192000" cy="1543791"/>
          </a:xfrm>
          <a:effectLst/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7B217"/>
                </a:solidFill>
              </a:rPr>
              <a:t>Computer Architecture </a:t>
            </a:r>
            <a:r>
              <a:rPr lang="en-US" b="1" dirty="0" smtClean="0"/>
              <a:t>and Operating Systems</a:t>
            </a:r>
            <a:br>
              <a:rPr lang="en-US" b="1" dirty="0" smtClean="0"/>
            </a:br>
            <a:r>
              <a:rPr lang="en-US" b="1" dirty="0" smtClean="0"/>
              <a:t>Lecture </a:t>
            </a:r>
            <a:r>
              <a:rPr lang="ru-RU" b="1" dirty="0" smtClean="0"/>
              <a:t>1</a:t>
            </a:r>
            <a:r>
              <a:rPr lang="en-US" b="1" smtClean="0"/>
              <a:t>: Introduction</a:t>
            </a:r>
            <a:endParaRPr lang="ru-RU" b="1" dirty="0"/>
          </a:p>
        </p:txBody>
      </p:sp>
      <p:sp>
        <p:nvSpPr>
          <p:cNvPr id="5" name="Subtitle 11"/>
          <p:cNvSpPr>
            <a:spLocks noGrp="1"/>
          </p:cNvSpPr>
          <p:nvPr>
            <p:ph type="subTitle" idx="4294967295"/>
          </p:nvPr>
        </p:nvSpPr>
        <p:spPr>
          <a:xfrm>
            <a:off x="0" y="4423118"/>
            <a:ext cx="12192000" cy="573664"/>
          </a:xfrm>
        </p:spPr>
        <p:txBody>
          <a:bodyPr>
            <a:noAutofit/>
          </a:bodyPr>
          <a:lstStyle/>
          <a:p>
            <a:pPr algn="ctr">
              <a:buNone/>
              <a:defRPr/>
            </a:pPr>
            <a:r>
              <a:rPr lang="en-US" sz="4800" b="1" dirty="0" smtClean="0"/>
              <a:t>Andrei Tatarnikov</a:t>
            </a:r>
            <a:endParaRPr lang="en-US" sz="4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-47500" y="5305305"/>
            <a:ext cx="12239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andrewt0301@gmail.com </a:t>
            </a:r>
          </a:p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@andrewt0301</a:t>
            </a:r>
            <a:endParaRPr lang="en-US" sz="2800" b="1" u="sng" dirty="0">
              <a:solidFill>
                <a:srgbClr val="0070C0"/>
              </a:solidFill>
              <a:latin typeface="+mj-lt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89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2986684"/>
            <a:ext cx="10515600" cy="354474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200" b="1" dirty="0" smtClean="0"/>
              <a:t>Website</a:t>
            </a:r>
            <a:endParaRPr lang="ru-RU" sz="4200" b="1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hlinkClick r:id="rId2"/>
              </a:rPr>
              <a:t>https://andrewt0301.github.io/hse-acos-course/</a:t>
            </a:r>
            <a:endParaRPr lang="en-US" sz="28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4200" b="1" dirty="0" smtClean="0"/>
              <a:t>Wiki</a:t>
            </a:r>
            <a:endParaRPr lang="en-US" sz="4200" b="1" dirty="0">
              <a:hlinkClick r:id="rId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3"/>
              </a:rPr>
              <a:t>http://wiki.cs.hse.ru/ACOS_DSBA_2024/25</a:t>
            </a:r>
            <a:endParaRPr lang="en-US" sz="28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4"/>
              </a:rPr>
              <a:t>http://wiki.cs.hse.ru/ACOS_COMPDS_2024/2025</a:t>
            </a:r>
            <a:endParaRPr lang="en-US" sz="2800" dirty="0">
              <a:hlinkClick r:id="rId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4200" b="1" dirty="0" smtClean="0"/>
              <a:t>Telegram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5"/>
              </a:rPr>
              <a:t>https://t.me/+wRC-TJXoI9M0ZmFi</a:t>
            </a:r>
            <a:r>
              <a:rPr lang="en-US" sz="2800" dirty="0" smtClean="0"/>
              <a:t> (DSBA)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6"/>
              </a:rPr>
              <a:t>https://t.me/+gTIDlXK1e3MyZjcy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dirty="0" smtClean="0"/>
              <a:t>COMPDS/EAD/VSN)</a:t>
            </a:r>
            <a:endParaRPr lang="en-US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Resources</a:t>
            </a:r>
            <a:endParaRPr lang="ru-RU" dirty="0"/>
          </a:p>
        </p:txBody>
      </p:sp>
      <p:pic>
        <p:nvPicPr>
          <p:cNvPr id="6" name="Рисунок 5" descr="hifive-unleashed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33762" y="1050801"/>
            <a:ext cx="5324475" cy="2039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0360" y="3279410"/>
            <a:ext cx="2422568" cy="629392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Andrei Tatarnikov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73826" y="3731499"/>
            <a:ext cx="10515600" cy="56015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 smtClean="0"/>
              <a:t>Assistants</a:t>
            </a:r>
          </a:p>
          <a:p>
            <a:pPr>
              <a:buNone/>
            </a:pPr>
            <a:endParaRPr lang="en-US" sz="32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DSBA Course Team</a:t>
            </a:r>
            <a:endParaRPr lang="ru-RU" dirty="0"/>
          </a:p>
        </p:txBody>
      </p:sp>
      <p:pic>
        <p:nvPicPr>
          <p:cNvPr id="6" name="Рисунок 5" descr="3727740.jpg"/>
          <p:cNvPicPr>
            <a:picLocks noChangeAspect="1"/>
          </p:cNvPicPr>
          <p:nvPr/>
        </p:nvPicPr>
        <p:blipFill>
          <a:blip r:embed="rId2" cstate="print"/>
          <a:srcRect l="4108" t="6573" r="7395" b="3287"/>
          <a:stretch>
            <a:fillRect/>
          </a:stretch>
        </p:blipFill>
        <p:spPr>
          <a:xfrm>
            <a:off x="774017" y="1438013"/>
            <a:ext cx="1938748" cy="1974742"/>
          </a:xfrm>
          <a:prstGeom prst="rect">
            <a:avLst/>
          </a:prstGeom>
        </p:spPr>
      </p:pic>
      <p:sp>
        <p:nvSpPr>
          <p:cNvPr id="7" name="Содержимое 1"/>
          <p:cNvSpPr txBox="1">
            <a:spLocks/>
          </p:cNvSpPr>
          <p:nvPr/>
        </p:nvSpPr>
        <p:spPr>
          <a:xfrm>
            <a:off x="848100" y="925748"/>
            <a:ext cx="10515600" cy="700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7327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Instructors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9095" y="3262859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Roman </a:t>
            </a:r>
            <a:r>
              <a:rPr lang="en-US" sz="2300" b="1" dirty="0" err="1" smtClean="0">
                <a:solidFill>
                  <a:srgbClr val="1E3272"/>
                </a:solidFill>
              </a:rPr>
              <a:t>Stolyarov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36999" y="5967131"/>
            <a:ext cx="2257640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Michael </a:t>
            </a:r>
            <a:r>
              <a:rPr lang="en-US" sz="2000" b="1" dirty="0" err="1" smtClean="0">
                <a:solidFill>
                  <a:srgbClr val="1E3272"/>
                </a:solidFill>
              </a:rPr>
              <a:t>Logvinchuk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3828" y="5970045"/>
            <a:ext cx="1928227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Ivan </a:t>
            </a:r>
            <a:r>
              <a:rPr lang="en-US" sz="2000" b="1" dirty="0" err="1" smtClean="0">
                <a:solidFill>
                  <a:srgbClr val="1E3272"/>
                </a:solidFill>
              </a:rPr>
              <a:t>Mashkarin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79523" y="3251278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David </a:t>
            </a:r>
            <a:r>
              <a:rPr lang="en-US" sz="2300" b="1" dirty="0" err="1" smtClean="0">
                <a:solidFill>
                  <a:srgbClr val="1E3272"/>
                </a:solidFill>
              </a:rPr>
              <a:t>Badalyan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36" name="Рисунок 35" descr="photo_2024-01-07_10-23-29.jpg"/>
          <p:cNvPicPr>
            <a:picLocks noChangeAspect="1"/>
          </p:cNvPicPr>
          <p:nvPr/>
        </p:nvPicPr>
        <p:blipFill>
          <a:blip r:embed="rId3" cstate="print"/>
          <a:srcRect l="31004" t="28789" r="20965" b="37869"/>
          <a:stretch>
            <a:fillRect/>
          </a:stretch>
        </p:blipFill>
        <p:spPr>
          <a:xfrm>
            <a:off x="4933602" y="1436574"/>
            <a:ext cx="2108138" cy="1951227"/>
          </a:xfrm>
          <a:prstGeom prst="rect">
            <a:avLst/>
          </a:prstGeom>
        </p:spPr>
      </p:pic>
      <p:pic>
        <p:nvPicPr>
          <p:cNvPr id="30" name="Рисунок 29" descr="photo_2025-01-12_22-43-04.jpg"/>
          <p:cNvPicPr>
            <a:picLocks noChangeAspect="1"/>
          </p:cNvPicPr>
          <p:nvPr/>
        </p:nvPicPr>
        <p:blipFill>
          <a:blip r:embed="rId4" cstate="print"/>
          <a:srcRect l="4477" t="22441" r="12151" b="37795"/>
          <a:stretch>
            <a:fillRect/>
          </a:stretch>
        </p:blipFill>
        <p:spPr>
          <a:xfrm>
            <a:off x="7200350" y="1418221"/>
            <a:ext cx="1877296" cy="19392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57025" y="3343586"/>
            <a:ext cx="2380341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Fedor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Pakhurov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2" name="Рисунок 21" descr="IMG_6901.jpg"/>
          <p:cNvPicPr>
            <a:picLocks noChangeAspect="1"/>
          </p:cNvPicPr>
          <p:nvPr/>
        </p:nvPicPr>
        <p:blipFill>
          <a:blip r:embed="rId5" cstate="print"/>
          <a:srcRect l="4076" t="15303" r="4076" b="6121"/>
          <a:stretch>
            <a:fillRect/>
          </a:stretch>
        </p:blipFill>
        <p:spPr>
          <a:xfrm>
            <a:off x="2969697" y="1434675"/>
            <a:ext cx="1719801" cy="19594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84548" y="3260803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Gleb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Stepanov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4" name="Рисунок 23" descr="DSC03396~2.jpg"/>
          <p:cNvPicPr>
            <a:picLocks noChangeAspect="1"/>
          </p:cNvPicPr>
          <p:nvPr/>
        </p:nvPicPr>
        <p:blipFill>
          <a:blip r:embed="rId6" cstate="print"/>
          <a:srcRect l="13522" r="11873" b="47955"/>
          <a:stretch>
            <a:fillRect/>
          </a:stretch>
        </p:blipFill>
        <p:spPr>
          <a:xfrm>
            <a:off x="9281736" y="1428759"/>
            <a:ext cx="2035849" cy="1894923"/>
          </a:xfrm>
          <a:prstGeom prst="rect">
            <a:avLst/>
          </a:prstGeom>
        </p:spPr>
      </p:pic>
      <p:pic>
        <p:nvPicPr>
          <p:cNvPr id="27" name="Рисунок 26" descr="photo_2026-01-12_19-51-29.jpg"/>
          <p:cNvPicPr>
            <a:picLocks noChangeAspect="1"/>
          </p:cNvPicPr>
          <p:nvPr/>
        </p:nvPicPr>
        <p:blipFill>
          <a:blip r:embed="rId7" cstate="print"/>
          <a:srcRect b="8858"/>
          <a:stretch>
            <a:fillRect/>
          </a:stretch>
        </p:blipFill>
        <p:spPr>
          <a:xfrm>
            <a:off x="457200" y="4238632"/>
            <a:ext cx="1463040" cy="1777925"/>
          </a:xfrm>
          <a:prstGeom prst="rect">
            <a:avLst/>
          </a:prstGeom>
        </p:spPr>
      </p:pic>
      <p:pic>
        <p:nvPicPr>
          <p:cNvPr id="35" name="Рисунок 34" descr="photo_2026-01-12_19-59-15.jpg"/>
          <p:cNvPicPr>
            <a:picLocks noChangeAspect="1"/>
          </p:cNvPicPr>
          <p:nvPr/>
        </p:nvPicPr>
        <p:blipFill>
          <a:blip r:embed="rId8" cstate="print"/>
          <a:srcRect l="4864" t="16609" r="15036" b="38533"/>
          <a:stretch>
            <a:fillRect/>
          </a:stretch>
        </p:blipFill>
        <p:spPr>
          <a:xfrm>
            <a:off x="2258120" y="4253761"/>
            <a:ext cx="1564951" cy="1750108"/>
          </a:xfrm>
          <a:prstGeom prst="rect">
            <a:avLst/>
          </a:prstGeom>
        </p:spPr>
      </p:pic>
      <p:pic>
        <p:nvPicPr>
          <p:cNvPr id="37" name="Рисунок 36" descr="photo_2026-01-12_20-04-05.jpg"/>
          <p:cNvPicPr>
            <a:picLocks noChangeAspect="1"/>
          </p:cNvPicPr>
          <p:nvPr/>
        </p:nvPicPr>
        <p:blipFill>
          <a:blip r:embed="rId9" cstate="print"/>
          <a:srcRect t="23031" r="18917" b="2657"/>
          <a:stretch>
            <a:fillRect/>
          </a:stretch>
        </p:blipFill>
        <p:spPr>
          <a:xfrm>
            <a:off x="4203218" y="4237001"/>
            <a:ext cx="1407236" cy="1721405"/>
          </a:xfrm>
          <a:prstGeom prst="rect">
            <a:avLst/>
          </a:prstGeom>
        </p:spPr>
      </p:pic>
      <p:pic>
        <p:nvPicPr>
          <p:cNvPr id="38" name="Рисунок 37" descr="photo_2026-01-12_20-04-50.jpg"/>
          <p:cNvPicPr>
            <a:picLocks noChangeAspect="1"/>
          </p:cNvPicPr>
          <p:nvPr/>
        </p:nvPicPr>
        <p:blipFill>
          <a:blip r:embed="rId10" cstate="print"/>
          <a:srcRect l="9744" r="6201"/>
          <a:stretch>
            <a:fillRect/>
          </a:stretch>
        </p:blipFill>
        <p:spPr>
          <a:xfrm>
            <a:off x="5844876" y="4248169"/>
            <a:ext cx="1742158" cy="1734217"/>
          </a:xfrm>
          <a:prstGeom prst="rect">
            <a:avLst/>
          </a:prstGeom>
        </p:spPr>
      </p:pic>
      <p:pic>
        <p:nvPicPr>
          <p:cNvPr id="39" name="Рисунок 38" descr="photo_2026-01-12_20-05-10.jpg"/>
          <p:cNvPicPr>
            <a:picLocks noChangeAspect="1"/>
          </p:cNvPicPr>
          <p:nvPr/>
        </p:nvPicPr>
        <p:blipFill>
          <a:blip r:embed="rId11" cstate="print"/>
          <a:srcRect t="10630" r="57579" b="38976"/>
          <a:stretch>
            <a:fillRect/>
          </a:stretch>
        </p:blipFill>
        <p:spPr>
          <a:xfrm>
            <a:off x="7896229" y="4218993"/>
            <a:ext cx="1551590" cy="1843211"/>
          </a:xfrm>
          <a:prstGeom prst="rect">
            <a:avLst/>
          </a:prstGeom>
        </p:spPr>
      </p:pic>
      <p:pic>
        <p:nvPicPr>
          <p:cNvPr id="40" name="Рисунок 39" descr="photo_2026-01-12_20-13-01.jpg"/>
          <p:cNvPicPr>
            <a:picLocks noChangeAspect="1"/>
          </p:cNvPicPr>
          <p:nvPr/>
        </p:nvPicPr>
        <p:blipFill>
          <a:blip r:embed="rId12" cstate="print"/>
          <a:srcRect l="29232" t="8858" r="35433" b="54921"/>
          <a:stretch>
            <a:fillRect/>
          </a:stretch>
        </p:blipFill>
        <p:spPr>
          <a:xfrm>
            <a:off x="9661370" y="4208058"/>
            <a:ext cx="1809378" cy="18547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14951" y="3192326"/>
            <a:ext cx="2422568" cy="629392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Andrei Tatarnikov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73826" y="3716985"/>
            <a:ext cx="10515600" cy="56015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 smtClean="0"/>
              <a:t>Assistants</a:t>
            </a:r>
          </a:p>
          <a:p>
            <a:pPr>
              <a:buNone/>
            </a:pPr>
            <a:endParaRPr lang="en-US" sz="32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COMPDS </a:t>
            </a:r>
            <a:r>
              <a:rPr lang="en-US" dirty="0" smtClean="0"/>
              <a:t>Course Team</a:t>
            </a:r>
            <a:endParaRPr lang="ru-RU" dirty="0"/>
          </a:p>
        </p:txBody>
      </p:sp>
      <p:pic>
        <p:nvPicPr>
          <p:cNvPr id="6" name="Рисунок 5" descr="3727740.jpg"/>
          <p:cNvPicPr>
            <a:picLocks noChangeAspect="1"/>
          </p:cNvPicPr>
          <p:nvPr/>
        </p:nvPicPr>
        <p:blipFill>
          <a:blip r:embed="rId2" cstate="print"/>
          <a:srcRect l="4108" t="6573" r="7395" b="3287"/>
          <a:stretch>
            <a:fillRect/>
          </a:stretch>
        </p:blipFill>
        <p:spPr>
          <a:xfrm>
            <a:off x="2247681" y="1428489"/>
            <a:ext cx="1861198" cy="1895752"/>
          </a:xfrm>
          <a:prstGeom prst="rect">
            <a:avLst/>
          </a:prstGeom>
        </p:spPr>
      </p:pic>
      <p:sp>
        <p:nvSpPr>
          <p:cNvPr id="7" name="Содержимое 1"/>
          <p:cNvSpPr txBox="1">
            <a:spLocks/>
          </p:cNvSpPr>
          <p:nvPr/>
        </p:nvSpPr>
        <p:spPr>
          <a:xfrm>
            <a:off x="771900" y="925748"/>
            <a:ext cx="10515600" cy="700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7327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Instructors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6636" y="3185753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Ksenya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Drozdova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6348" y="6008758"/>
            <a:ext cx="1912288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b="1" dirty="0" smtClean="0">
                <a:solidFill>
                  <a:srgbClr val="1E3272"/>
                </a:solidFill>
              </a:rPr>
              <a:t>Michael </a:t>
            </a:r>
            <a:r>
              <a:rPr lang="en-US" b="1" dirty="0" err="1" smtClean="0">
                <a:solidFill>
                  <a:srgbClr val="1E3272"/>
                </a:solidFill>
              </a:rPr>
              <a:t>Artemov</a:t>
            </a:r>
            <a:endParaRPr lang="ru-RU" b="1" dirty="0" smtClean="0">
              <a:solidFill>
                <a:srgbClr val="1E327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3808" y="5961127"/>
            <a:ext cx="1912288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b="1" dirty="0" err="1" smtClean="0">
                <a:solidFill>
                  <a:srgbClr val="1E3272"/>
                </a:solidFill>
              </a:rPr>
              <a:t>Arkady</a:t>
            </a:r>
            <a:r>
              <a:rPr lang="en-US" b="1" dirty="0" smtClean="0">
                <a:solidFill>
                  <a:srgbClr val="1E3272"/>
                </a:solidFill>
              </a:rPr>
              <a:t> Pavlov</a:t>
            </a:r>
            <a:endParaRPr lang="ru-RU" b="1" dirty="0" smtClean="0">
              <a:solidFill>
                <a:srgbClr val="1E327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76700" y="3248336"/>
            <a:ext cx="2380341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Fedor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Pakhurov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2" name="Рисунок 21" descr="IMG_6901.jpg"/>
          <p:cNvPicPr>
            <a:picLocks noChangeAspect="1"/>
          </p:cNvPicPr>
          <p:nvPr/>
        </p:nvPicPr>
        <p:blipFill>
          <a:blip r:embed="rId3" cstate="print"/>
          <a:srcRect l="4076" t="18363" r="4076" b="6121"/>
          <a:stretch>
            <a:fillRect/>
          </a:stretch>
        </p:blipFill>
        <p:spPr>
          <a:xfrm>
            <a:off x="8027472" y="1415731"/>
            <a:ext cx="1687352" cy="1847576"/>
          </a:xfrm>
          <a:prstGeom prst="rect">
            <a:avLst/>
          </a:prstGeom>
        </p:spPr>
      </p:pic>
      <p:pic>
        <p:nvPicPr>
          <p:cNvPr id="23" name="Рисунок 22" descr="photo_2026-01-12_19-28-31.jpg"/>
          <p:cNvPicPr>
            <a:picLocks noChangeAspect="1"/>
          </p:cNvPicPr>
          <p:nvPr/>
        </p:nvPicPr>
        <p:blipFill>
          <a:blip r:embed="rId4" cstate="print"/>
          <a:srcRect l="3336" t="6459" r="4449" b="8612"/>
          <a:stretch>
            <a:fillRect/>
          </a:stretch>
        </p:blipFill>
        <p:spPr>
          <a:xfrm>
            <a:off x="5047386" y="1419197"/>
            <a:ext cx="1970085" cy="1874468"/>
          </a:xfrm>
          <a:prstGeom prst="rect">
            <a:avLst/>
          </a:prstGeom>
        </p:spPr>
      </p:pic>
      <p:pic>
        <p:nvPicPr>
          <p:cNvPr id="25" name="Рисунок 24" descr="photo_2026-01-12_19-34-39.jpg"/>
          <p:cNvPicPr>
            <a:picLocks noChangeAspect="1"/>
          </p:cNvPicPr>
          <p:nvPr/>
        </p:nvPicPr>
        <p:blipFill>
          <a:blip r:embed="rId5" cstate="print"/>
          <a:srcRect l="9154" t="29454" r="39567" b="34547"/>
          <a:stretch>
            <a:fillRect/>
          </a:stretch>
        </p:blipFill>
        <p:spPr>
          <a:xfrm>
            <a:off x="4131069" y="4300239"/>
            <a:ext cx="1813061" cy="1697052"/>
          </a:xfrm>
          <a:prstGeom prst="rect">
            <a:avLst/>
          </a:prstGeom>
        </p:spPr>
      </p:pic>
      <p:pic>
        <p:nvPicPr>
          <p:cNvPr id="28" name="Рисунок 27" descr="IMG_6898.JPG"/>
          <p:cNvPicPr>
            <a:picLocks noChangeAspect="1"/>
          </p:cNvPicPr>
          <p:nvPr/>
        </p:nvPicPr>
        <p:blipFill>
          <a:blip r:embed="rId6" cstate="print"/>
          <a:srcRect t="11866"/>
          <a:stretch>
            <a:fillRect/>
          </a:stretch>
        </p:blipFill>
        <p:spPr>
          <a:xfrm>
            <a:off x="6486543" y="4304398"/>
            <a:ext cx="1911350" cy="168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054100"/>
            <a:ext cx="10515600" cy="5616257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400" dirty="0" smtClean="0"/>
              <a:t>Syllabus (</a:t>
            </a:r>
            <a:r>
              <a:rPr lang="en-US" sz="4400" dirty="0" smtClean="0">
                <a:solidFill>
                  <a:srgbClr val="2F5CB5"/>
                </a:solidFill>
              </a:rPr>
              <a:t>see the web site for details</a:t>
            </a:r>
            <a:r>
              <a:rPr lang="en-US" sz="4400" dirty="0" smtClean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Module 3: Computer Architecture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Computer architecture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Assembly language programming (RISC-V)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Home works, quizzes, and test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Module 4: Operating Systems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Operating System Architecture (Linux)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System programming in C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Home works, quizzes, and test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Final Exam</a:t>
            </a:r>
          </a:p>
          <a:p>
            <a:pPr lvl="1"/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/>
              <a:t>Increase your computer literacy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Have an idea how computers under the hood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Better understand performance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 familiar with system programming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 familiar with system tools</a:t>
            </a:r>
            <a:endParaRPr lang="ru-RU" sz="4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6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Motivation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7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Example: Matrix Multiplication (part 1)</a:t>
            </a:r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56884" y="1201316"/>
            <a:ext cx="4673074" cy="5189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1024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random.random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random.random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C[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][k]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B[k][j]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%0.6f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%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start))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03071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Содержимое 1"/>
              <p:cNvSpPr txBox="1">
                <a:spLocks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Python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503.130450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~ 4,27 MFLOPS</a:t>
                </a:r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Содержимое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95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61127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8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</a:t>
            </a:r>
            <a:r>
              <a:rPr lang="en-US" smtClean="0"/>
              <a:t>Multiplication </a:t>
            </a:r>
            <a:r>
              <a:rPr lang="en-US"/>
              <a:t>(part </a:t>
            </a:r>
            <a:r>
              <a:rPr lang="en-US" smtClean="0"/>
              <a:t>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405431" y="1053681"/>
            <a:ext cx="5379719" cy="53276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class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Matrix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err="1" smtClean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1024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main(String[]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long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start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nanoTime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k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k++)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+=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][k] *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[k][j];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long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stop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nanoTime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b="1" i="1" dirty="0" err="1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(stop - start) *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1e-9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Содержимое 1"/>
              <p:cNvSpPr txBox="1">
                <a:spLocks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Java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12.946224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~ 165 MFLOPS</a:t>
                </a:r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Содержимое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95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7621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9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Matrix </a:t>
            </a:r>
            <a:r>
              <a:rPr lang="en-US"/>
              <a:t>Multiplication (part </a:t>
            </a:r>
            <a:r>
              <a:rPr lang="en-US" smtClean="0"/>
              <a:t>3)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77256" y="1048666"/>
            <a:ext cx="6435344" cy="574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&lt;sys/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time.h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#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define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1024</a:t>
            </a:r>
            <a:b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B[n][n];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float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tdiff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*start,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*end)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(end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 start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e-6*(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tv_usec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 start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tv_usec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 err="1" smtClean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char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)rand() /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)RAND_MAX;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)rand() /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)RAND_MAX;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start, end;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gettimeofday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(&amp;start, NULL);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k &lt; n; k++)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C[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+= A[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][k] * B[k][j];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gettimeofday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(&amp;end, NULL);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"%0.6f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tdiff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(&amp;start, &amp;end));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Содержимое 1"/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177925"/>
                <a:ext cx="4821936" cy="49974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C Language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13.714264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3200" dirty="0" smtClean="0"/>
                  <a:t>~ 153 MFLOPS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Содержимое 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7925"/>
                <a:ext cx="4821936" cy="4997450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87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6909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700443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smtClean="0">
                <a:solidFill>
                  <a:srgbClr val="F7B217"/>
                </a:solidFill>
              </a:rPr>
              <a:t>C Language: Optimizations</a:t>
            </a:r>
            <a:endParaRPr lang="en-US" sz="4400" b="1">
              <a:solidFill>
                <a:srgbClr val="F7B217"/>
              </a:solidFill>
            </a:endParaRP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10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Multiplication (part </a:t>
            </a:r>
            <a:r>
              <a:rPr lang="en-US" smtClean="0"/>
              <a:t>4)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4424" y="2017467"/>
            <a:ext cx="3742944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dirty="0" smtClean="0">
                <a:solidFill>
                  <a:srgbClr val="000080"/>
                </a:solidFill>
              </a:rPr>
              <a:t>Loop order: </a:t>
            </a:r>
            <a:r>
              <a:rPr lang="en-US" altLang="en-US" sz="3200" b="1" dirty="0" err="1" smtClean="0">
                <a:solidFill>
                  <a:srgbClr val="000080"/>
                </a:solidFill>
              </a:rPr>
              <a:t>i</a:t>
            </a:r>
            <a:r>
              <a:rPr lang="en-US" altLang="en-US" sz="3200" b="1" dirty="0" smtClean="0">
                <a:solidFill>
                  <a:srgbClr val="000080"/>
                </a:solidFill>
              </a:rPr>
              <a:t>, j, k</a:t>
            </a:r>
          </a:p>
          <a:p>
            <a:endParaRPr lang="en-US" altLang="en-US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j++)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k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k++)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][k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4230624" y="2017467"/>
            <a:ext cx="3742944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smtClean="0">
                <a:solidFill>
                  <a:srgbClr val="00B050"/>
                </a:solidFill>
              </a:rPr>
              <a:t>Loop order: i, k, </a:t>
            </a:r>
            <a:r>
              <a:rPr lang="en-US" altLang="en-US" sz="3200" b="1">
                <a:solidFill>
                  <a:srgbClr val="00B050"/>
                </a:solidFill>
              </a:rPr>
              <a:t>j</a:t>
            </a:r>
            <a:endParaRPr lang="en-US" altLang="en-US" sz="3200" b="1" smtClean="0">
              <a:solidFill>
                <a:srgbClr val="00B050"/>
              </a:solidFill>
            </a:endParaRPr>
          </a:p>
          <a:p>
            <a:endParaRPr lang="en-US" altLang="en-US" b="1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i=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i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k++)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j++)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[i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[i][k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  <p:sp>
        <p:nvSpPr>
          <p:cNvPr id="7" name="Rectangle 6"/>
          <p:cNvSpPr/>
          <p:nvPr/>
        </p:nvSpPr>
        <p:spPr>
          <a:xfrm>
            <a:off x="8129016" y="2023563"/>
            <a:ext cx="3749040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dirty="0" smtClean="0">
                <a:solidFill>
                  <a:srgbClr val="FF0000"/>
                </a:solidFill>
              </a:rPr>
              <a:t>Loop order: j, k, </a:t>
            </a:r>
            <a:r>
              <a:rPr lang="en-US" altLang="en-US" sz="3200" b="1" dirty="0" err="1" smtClean="0">
                <a:solidFill>
                  <a:srgbClr val="FF0000"/>
                </a:solidFill>
              </a:rPr>
              <a:t>i</a:t>
            </a:r>
            <a:endParaRPr lang="en-US" altLang="en-US" sz="3200" b="1" dirty="0" smtClean="0">
              <a:solidFill>
                <a:srgbClr val="FF0000"/>
              </a:solidFill>
            </a:endParaRPr>
          </a:p>
          <a:p>
            <a:endParaRPr lang="en-US" altLang="en-US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][k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071372" y="4739792"/>
            <a:ext cx="22890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1E3272"/>
                </a:solidFill>
              </a:rPr>
              <a:t>Running time:</a:t>
            </a:r>
          </a:p>
          <a:p>
            <a:r>
              <a:rPr lang="en-US" sz="2400">
                <a:solidFill>
                  <a:srgbClr val="1E3272"/>
                </a:solidFill>
              </a:rPr>
              <a:t>13.714264 sec.</a:t>
            </a:r>
          </a:p>
          <a:p>
            <a:r>
              <a:rPr lang="en-US" sz="2400" b="1">
                <a:solidFill>
                  <a:srgbClr val="1E3272"/>
                </a:solidFill>
              </a:rPr>
              <a:t>Performance</a:t>
            </a:r>
            <a:r>
              <a:rPr lang="en-US" sz="2400" b="1" smtClean="0">
                <a:solidFill>
                  <a:srgbClr val="1E3272"/>
                </a:solidFill>
              </a:rPr>
              <a:t>:</a:t>
            </a:r>
          </a:p>
          <a:p>
            <a:r>
              <a:rPr lang="en-US" sz="2400" smtClean="0">
                <a:solidFill>
                  <a:srgbClr val="1E3272"/>
                </a:solidFill>
              </a:rPr>
              <a:t>~ </a:t>
            </a:r>
            <a:r>
              <a:rPr lang="en-US" sz="2400">
                <a:solidFill>
                  <a:srgbClr val="1E3272"/>
                </a:solidFill>
              </a:rPr>
              <a:t>153 MFLOPS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2436" y="4739792"/>
            <a:ext cx="2167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00B050"/>
                </a:solidFill>
              </a:rPr>
              <a:t>Running time:</a:t>
            </a:r>
          </a:p>
          <a:p>
            <a:r>
              <a:rPr lang="en-US" sz="2400">
                <a:solidFill>
                  <a:srgbClr val="00B050"/>
                </a:solidFill>
              </a:rPr>
              <a:t>2.739385 sec.</a:t>
            </a:r>
          </a:p>
          <a:p>
            <a:r>
              <a:rPr lang="en-US" sz="2400" b="1">
                <a:solidFill>
                  <a:srgbClr val="00B050"/>
                </a:solidFill>
              </a:rPr>
              <a:t>Performance</a:t>
            </a:r>
            <a:r>
              <a:rPr lang="en-US" sz="2400" b="1" smtClean="0">
                <a:solidFill>
                  <a:srgbClr val="00B050"/>
                </a:solidFill>
              </a:rPr>
              <a:t>:</a:t>
            </a:r>
          </a:p>
          <a:p>
            <a:r>
              <a:rPr lang="en-US" sz="2400">
                <a:solidFill>
                  <a:srgbClr val="00B050"/>
                </a:solidFill>
              </a:rPr>
              <a:t>~ 795 MFLOPS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1768" y="4757153"/>
            <a:ext cx="2383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FF0000"/>
                </a:solidFill>
              </a:rPr>
              <a:t>Running time:</a:t>
            </a:r>
          </a:p>
          <a:p>
            <a:r>
              <a:rPr lang="en-US" sz="2400">
                <a:solidFill>
                  <a:srgbClr val="FF0000"/>
                </a:solidFill>
              </a:rPr>
              <a:t>19.074106 sec.</a:t>
            </a:r>
          </a:p>
          <a:p>
            <a:r>
              <a:rPr lang="en-US" sz="2400" b="1">
                <a:solidFill>
                  <a:srgbClr val="FF0000"/>
                </a:solidFill>
              </a:rPr>
              <a:t>Performance</a:t>
            </a:r>
            <a:r>
              <a:rPr lang="en-US" sz="2400" b="1" smtClean="0">
                <a:solidFill>
                  <a:srgbClr val="FF0000"/>
                </a:solidFill>
              </a:rPr>
              <a:t>:</a:t>
            </a:r>
          </a:p>
          <a:p>
            <a:r>
              <a:rPr lang="en-US" sz="2400">
                <a:solidFill>
                  <a:srgbClr val="FF0000"/>
                </a:solidFill>
              </a:rPr>
              <a:t>~ 113 MFLOPS</a:t>
            </a:r>
          </a:p>
        </p:txBody>
      </p:sp>
    </p:spTree>
    <p:extLst>
      <p:ext uri="{BB962C8B-B14F-4D97-AF65-F5344CB8AC3E}">
        <p14:creationId xmlns:p14="http://schemas.microsoft.com/office/powerpoint/2010/main" xmlns="" val="280882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53019934"/>
              </p:ext>
            </p:extLst>
          </p:nvPr>
        </p:nvGraphicFramePr>
        <p:xfrm>
          <a:off x="1981200" y="1164336"/>
          <a:ext cx="8229600" cy="4583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99288">
                <a:tc>
                  <a:txBody>
                    <a:bodyPr/>
                    <a:lstStyle/>
                    <a:p>
                      <a:r>
                        <a:rPr lang="en-US" sz="2800" smtClean="0">
                          <a:solidFill>
                            <a:srgbClr val="F7B217"/>
                          </a:solidFill>
                        </a:rPr>
                        <a:t>Feature</a:t>
                      </a:r>
                      <a:endParaRPr lang="en-US" sz="280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smtClean="0">
                          <a:solidFill>
                            <a:srgbClr val="F7B217"/>
                          </a:solidFill>
                        </a:rPr>
                        <a:t>Specifiction</a:t>
                      </a:r>
                      <a:endParaRPr lang="en-US" sz="280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</a:tr>
              <a:tr h="319191">
                <a:tc>
                  <a:txBody>
                    <a:bodyPr/>
                    <a:lstStyle/>
                    <a:p>
                      <a:r>
                        <a:rPr lang="en-US" sz="2000" smtClean="0"/>
                        <a:t>Model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MacBook Pro 9,1</a:t>
                      </a:r>
                      <a:endParaRPr lang="en-US" sz="2000"/>
                    </a:p>
                  </a:txBody>
                  <a:tcPr/>
                </a:tc>
              </a:tr>
              <a:tr h="273471">
                <a:tc>
                  <a:txBody>
                    <a:bodyPr/>
                    <a:lstStyle/>
                    <a:p>
                      <a:r>
                        <a:rPr lang="en-US" sz="2000" smtClean="0"/>
                        <a:t>Processor Name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Quad-Core Intel Core i7</a:t>
                      </a:r>
                      <a:endParaRPr lang="en-US" sz="2000"/>
                    </a:p>
                  </a:txBody>
                  <a:tcPr/>
                </a:tc>
              </a:tr>
              <a:tr h="453649">
                <a:tc>
                  <a:txBody>
                    <a:bodyPr/>
                    <a:lstStyle/>
                    <a:p>
                      <a:r>
                        <a:rPr lang="en-US" sz="2000" smtClean="0"/>
                        <a:t>Processor Speed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2,3 GHz</a:t>
                      </a:r>
                      <a:endParaRPr lang="en-US" sz="2000"/>
                    </a:p>
                  </a:txBody>
                  <a:tcPr/>
                </a:tc>
              </a:tr>
              <a:tr h="273471">
                <a:tc>
                  <a:txBody>
                    <a:bodyPr/>
                    <a:lstStyle/>
                    <a:p>
                      <a:r>
                        <a:rPr lang="en-US" sz="2000" smtClean="0"/>
                        <a:t>Number of Processors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1</a:t>
                      </a:r>
                      <a:endParaRPr lang="en-US" sz="2000"/>
                    </a:p>
                  </a:txBody>
                  <a:tcPr/>
                </a:tc>
              </a:tr>
              <a:tr h="236895">
                <a:tc>
                  <a:txBody>
                    <a:bodyPr/>
                    <a:lstStyle/>
                    <a:p>
                      <a:r>
                        <a:rPr lang="en-US" sz="2000" smtClean="0"/>
                        <a:t>Total Number of Cores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4</a:t>
                      </a:r>
                      <a:endParaRPr lang="en-US" sz="2000"/>
                    </a:p>
                  </a:txBody>
                  <a:tcPr/>
                </a:tc>
              </a:tr>
              <a:tr h="209463">
                <a:tc>
                  <a:txBody>
                    <a:bodyPr/>
                    <a:lstStyle/>
                    <a:p>
                      <a:r>
                        <a:rPr lang="en-US" sz="2000" smtClean="0"/>
                        <a:t>Floating-Point Operations per Cycle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4</a:t>
                      </a:r>
                      <a:endParaRPr lang="en-US" sz="2000"/>
                    </a:p>
                  </a:txBody>
                  <a:tcPr/>
                </a:tc>
              </a:tr>
              <a:tr h="209463">
                <a:tc>
                  <a:txBody>
                    <a:bodyPr/>
                    <a:lstStyle/>
                    <a:p>
                      <a:r>
                        <a:rPr lang="en-US" sz="2000" smtClean="0"/>
                        <a:t>L2 Cache (per Core)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256 KB</a:t>
                      </a:r>
                      <a:endParaRPr lang="en-US" sz="2000"/>
                    </a:p>
                  </a:txBody>
                  <a:tcPr/>
                </a:tc>
              </a:tr>
              <a:tr h="236895">
                <a:tc>
                  <a:txBody>
                    <a:bodyPr/>
                    <a:lstStyle/>
                    <a:p>
                      <a:r>
                        <a:rPr lang="en-US" sz="2000" smtClean="0"/>
                        <a:t>L3 Cache: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6 MB</a:t>
                      </a:r>
                      <a:endParaRPr lang="en-US" sz="2000"/>
                    </a:p>
                  </a:txBody>
                  <a:tcPr/>
                </a:tc>
              </a:tr>
              <a:tr h="441865">
                <a:tc>
                  <a:txBody>
                    <a:bodyPr/>
                    <a:lstStyle/>
                    <a:p>
                      <a:r>
                        <a:rPr lang="en-US" sz="2000" smtClean="0"/>
                        <a:t>Hyper-Threading Technology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Enabled</a:t>
                      </a:r>
                      <a:endParaRPr lang="en-US" sz="2000"/>
                    </a:p>
                  </a:txBody>
                  <a:tcPr/>
                </a:tc>
              </a:tr>
              <a:tr h="310047">
                <a:tc>
                  <a:txBody>
                    <a:bodyPr/>
                    <a:lstStyle/>
                    <a:p>
                      <a:r>
                        <a:rPr lang="en-US" sz="2000" smtClean="0"/>
                        <a:t>Memory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8 GB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11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Multiplication (part </a:t>
            </a:r>
            <a:r>
              <a:rPr lang="en-US" smtClean="0"/>
              <a:t>5)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Rectangle 5"/>
              <p:cNvSpPr/>
              <p:nvPr/>
            </p:nvSpPr>
            <p:spPr>
              <a:xfrm>
                <a:off x="1981200" y="5818188"/>
                <a:ext cx="8229600" cy="630173"/>
              </a:xfrm>
              <a:prstGeom prst="rect">
                <a:avLst/>
              </a:prstGeom>
              <a:solidFill>
                <a:srgbClr val="F7B217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1" smtClean="0">
                    <a:solidFill>
                      <a:srgbClr val="1E3272"/>
                    </a:solidFill>
                  </a:rPr>
                  <a:t>Peak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sz="3200" b="1">
                    <a:solidFill>
                      <a:srgbClr val="1E3272"/>
                    </a:solidFill>
                  </a:rPr>
                  <a:t>) </a:t>
                </a:r>
                <a:r>
                  <a:rPr lang="en-US" sz="3200" b="1" smtClean="0">
                    <a:solidFill>
                      <a:srgbClr val="1E3272"/>
                    </a:solidFill>
                  </a:rPr>
                  <a:t>* 1 * 4 * 4 </a:t>
                </a:r>
                <a:r>
                  <a:rPr lang="en-US" sz="3200" b="1">
                    <a:solidFill>
                      <a:srgbClr val="1E3272"/>
                    </a:solidFill>
                  </a:rPr>
                  <a:t>= </a:t>
                </a:r>
                <a:r>
                  <a:rPr lang="en-US" sz="3200" b="1" smtClean="0">
                    <a:solidFill>
                      <a:srgbClr val="1E3272"/>
                    </a:solidFill>
                  </a:rPr>
                  <a:t>36 800 MFLOPS</a:t>
                </a:r>
                <a:endParaRPr lang="en-US" sz="3200" b="1">
                  <a:solidFill>
                    <a:srgbClr val="1E3272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818188"/>
                <a:ext cx="8229600" cy="630173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185" t="-4808" r="-118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31987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12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affects performance?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95195415"/>
              </p:ext>
            </p:extLst>
          </p:nvPr>
        </p:nvGraphicFramePr>
        <p:xfrm>
          <a:off x="1206333" y="1298448"/>
          <a:ext cx="9766467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459"/>
                <a:gridCol w="4636008"/>
              </a:tblGrid>
              <a:tr h="393193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7B217"/>
                          </a:solidFill>
                        </a:rPr>
                        <a:t>Hardware/</a:t>
                      </a:r>
                      <a:r>
                        <a:rPr lang="en-US" sz="2800" baseline="0" dirty="0" smtClean="0">
                          <a:solidFill>
                            <a:srgbClr val="F7B217"/>
                          </a:solidFill>
                        </a:rPr>
                        <a:t>Software Component</a:t>
                      </a:r>
                      <a:endParaRPr lang="en-US" sz="2800" dirty="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7B217"/>
                          </a:solidFill>
                        </a:rPr>
                        <a:t>How It Affects Performance</a:t>
                      </a:r>
                      <a:endParaRPr lang="en-US" sz="2800" dirty="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</a:tr>
              <a:tr h="118714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Algorithm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both the number of source-level statements and the number of I/O operations executed</a:t>
                      </a:r>
                      <a:endParaRPr lang="en-US" sz="2400" dirty="0" smtClean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118714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Programming</a:t>
                      </a:r>
                      <a:r>
                        <a:rPr lang="en-US" sz="2400" b="1" baseline="0" dirty="0" smtClean="0">
                          <a:solidFill>
                            <a:srgbClr val="273272"/>
                          </a:solidFill>
                        </a:rPr>
                        <a:t> Language, Compiler, and Architecture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 the number of computer instructions for each source-level statement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821872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Processor and Memory System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how fast instructions can be executed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821872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I/O System (Hardware and Operating System)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how fast I/O operations may be executed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9160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2" y="1178053"/>
            <a:ext cx="6119190" cy="5093538"/>
          </a:xfrm>
        </p:spPr>
        <p:txBody>
          <a:bodyPr>
            <a:noAutofit/>
          </a:bodyPr>
          <a:lstStyle/>
          <a:p>
            <a:r>
              <a:rPr lang="en-US" dirty="0" smtClean="0"/>
              <a:t>1834–71: Analytical Engine designed </a:t>
            </a:r>
            <a:r>
              <a:rPr lang="en-US" dirty="0"/>
              <a:t>by Charles </a:t>
            </a:r>
            <a:r>
              <a:rPr lang="en-US" dirty="0" smtClean="0"/>
              <a:t>Babbage</a:t>
            </a:r>
          </a:p>
          <a:p>
            <a:r>
              <a:rPr lang="en-US" dirty="0" smtClean="0"/>
              <a:t>Mechanical gears, where each gear represented a discrete value (0-9)</a:t>
            </a:r>
          </a:p>
          <a:p>
            <a:r>
              <a:rPr lang="en-US" dirty="0" smtClean="0"/>
              <a:t>Programs provided as punched cards</a:t>
            </a:r>
            <a:endParaRPr lang="en-US" dirty="0"/>
          </a:p>
          <a:p>
            <a:r>
              <a:rPr lang="en-US" dirty="0" smtClean="0"/>
              <a:t>Never finished due to technological restrictions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13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History: </a:t>
            </a:r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smtClean="0"/>
              <a:t>Generation – Mechanical</a:t>
            </a:r>
            <a:endParaRPr lang="en-US" dirty="0"/>
          </a:p>
        </p:txBody>
      </p:sp>
      <p:pic>
        <p:nvPicPr>
          <p:cNvPr id="1026" name="Picture 2" descr="https://upload.wikimedia.org/wikipedia/commons/thumb/a/ac/AnalyticalMachine_Babbage_London.jpg/800px-AnalyticalMachine_Babbage_Lond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79704" y="1557830"/>
            <a:ext cx="4191000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4793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197" y="1178053"/>
            <a:ext cx="5473151" cy="5071048"/>
          </a:xfrm>
        </p:spPr>
        <p:txBody>
          <a:bodyPr>
            <a:normAutofit/>
          </a:bodyPr>
          <a:lstStyle/>
          <a:p>
            <a:r>
              <a:rPr lang="en-US" dirty="0" smtClean="0"/>
              <a:t>1945–55: first machines were created (</a:t>
            </a:r>
            <a:r>
              <a:rPr lang="en-US" dirty="0" err="1" smtClean="0"/>
              <a:t>Atanasoff</a:t>
            </a:r>
            <a:r>
              <a:rPr lang="en-US" dirty="0" smtClean="0"/>
              <a:t>–Berry, Z3, Colossus, ENIAC)</a:t>
            </a:r>
          </a:p>
          <a:p>
            <a:r>
              <a:rPr lang="en-US" dirty="0" smtClean="0"/>
              <a:t>All programming in pure machine language</a:t>
            </a:r>
          </a:p>
          <a:p>
            <a:r>
              <a:rPr lang="en-US" dirty="0"/>
              <a:t>C</a:t>
            </a:r>
            <a:r>
              <a:rPr lang="en-US" dirty="0" smtClean="0"/>
              <a:t>onnecting </a:t>
            </a:r>
            <a:r>
              <a:rPr lang="en-US" dirty="0"/>
              <a:t>boards and </a:t>
            </a:r>
            <a:r>
              <a:rPr lang="en-US" dirty="0" smtClean="0"/>
              <a:t>wires, punched cards (later)</a:t>
            </a:r>
          </a:p>
          <a:p>
            <a:r>
              <a:rPr lang="en-US" dirty="0" smtClean="0"/>
              <a:t>Stored program concept</a:t>
            </a:r>
          </a:p>
          <a:p>
            <a:endParaRPr lang="en-US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History: </a:t>
            </a: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 dirty="0" smtClean="0"/>
              <a:t>Generation - </a:t>
            </a:r>
            <a:r>
              <a:rPr lang="en-US" dirty="0"/>
              <a:t>Vacuum </a:t>
            </a:r>
            <a:r>
              <a:rPr lang="en-US" dirty="0" smtClean="0"/>
              <a:t>Tubes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8142386" y="1289132"/>
            <a:ext cx="1463065" cy="785192"/>
          </a:xfrm>
          <a:prstGeom prst="rect">
            <a:avLst/>
          </a:prstGeom>
          <a:solidFill>
            <a:srgbClr val="2F5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7B217"/>
                </a:solidFill>
              </a:rPr>
              <a:t>Input</a:t>
            </a:r>
            <a:endParaRPr lang="en-US" sz="3200" b="1" dirty="0">
              <a:solidFill>
                <a:srgbClr val="F7B21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42387" y="5463909"/>
            <a:ext cx="1463065" cy="785192"/>
          </a:xfrm>
          <a:prstGeom prst="rect">
            <a:avLst/>
          </a:prstGeom>
          <a:solidFill>
            <a:srgbClr val="2F5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>
                <a:solidFill>
                  <a:srgbClr val="F7B217"/>
                </a:solidFill>
              </a:rPr>
              <a:t>Output</a:t>
            </a:r>
            <a:endParaRPr lang="en-US" sz="3200" b="1">
              <a:solidFill>
                <a:srgbClr val="F7B21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91657" y="2506814"/>
            <a:ext cx="4962144" cy="2504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 flipH="1">
            <a:off x="8872729" y="2074324"/>
            <a:ext cx="1190" cy="432490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8872729" y="5010911"/>
            <a:ext cx="1191" cy="452998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32233" y="2770632"/>
            <a:ext cx="1749287" cy="2003729"/>
          </a:xfrm>
          <a:prstGeom prst="rect">
            <a:avLst/>
          </a:prstGeom>
          <a:solidFill>
            <a:srgbClr val="2F5CB5"/>
          </a:solidFill>
          <a:ln>
            <a:solidFill>
              <a:srgbClr val="2F5C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7B217"/>
                </a:solidFill>
              </a:rPr>
              <a:t>Memory</a:t>
            </a:r>
            <a:endParaRPr lang="en-US" sz="3200" b="1" dirty="0">
              <a:solidFill>
                <a:srgbClr val="F7B217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99583" y="2770632"/>
            <a:ext cx="2454965" cy="2003729"/>
          </a:xfrm>
          <a:prstGeom prst="rect">
            <a:avLst/>
          </a:prstGeom>
          <a:solidFill>
            <a:srgbClr val="2F5CB5"/>
          </a:solidFill>
          <a:ln>
            <a:solidFill>
              <a:srgbClr val="2F5C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9054548" y="3339592"/>
            <a:ext cx="377685" cy="3534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9054548" y="4187952"/>
            <a:ext cx="377685" cy="5080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21425" y="2980944"/>
            <a:ext cx="2023872" cy="713232"/>
          </a:xfrm>
          <a:prstGeom prst="rect">
            <a:avLst/>
          </a:prstGeom>
          <a:solidFill>
            <a:srgbClr val="F7B2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2F5CB5"/>
                </a:solidFill>
              </a:rPr>
              <a:t>Arithmetical </a:t>
            </a:r>
            <a:r>
              <a:rPr lang="en-US" sz="2400" b="1" dirty="0">
                <a:solidFill>
                  <a:srgbClr val="2F5CB5"/>
                </a:solidFill>
              </a:rPr>
              <a:t>/</a:t>
            </a:r>
            <a:r>
              <a:rPr lang="en-US" sz="2400" b="1" dirty="0" smtClean="0">
                <a:solidFill>
                  <a:srgbClr val="2F5CB5"/>
                </a:solidFill>
              </a:rPr>
              <a:t> Logic Unit</a:t>
            </a:r>
            <a:endParaRPr lang="en-US" sz="2400" b="1" dirty="0">
              <a:solidFill>
                <a:srgbClr val="2F5CB5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18045" y="3869726"/>
            <a:ext cx="2023872" cy="720562"/>
          </a:xfrm>
          <a:prstGeom prst="rect">
            <a:avLst/>
          </a:prstGeom>
          <a:solidFill>
            <a:srgbClr val="F7B2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2F5CB5"/>
                </a:solidFill>
              </a:rPr>
              <a:t>Control Unit</a:t>
            </a:r>
            <a:endParaRPr lang="en-US" sz="2400" b="1" dirty="0">
              <a:solidFill>
                <a:srgbClr val="2F5CB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3"/>
            <a:ext cx="5846064" cy="522274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1955</a:t>
            </a:r>
            <a:r>
              <a:rPr lang="en-US" dirty="0"/>
              <a:t>–</a:t>
            </a:r>
            <a:r>
              <a:rPr lang="en-US" dirty="0" smtClean="0"/>
              <a:t>65: era of mainframes (e.g. IBM 7094)</a:t>
            </a:r>
            <a:r>
              <a:rPr lang="ru-RU" dirty="0" smtClean="0"/>
              <a:t> </a:t>
            </a:r>
            <a:r>
              <a:rPr lang="en-US" dirty="0" smtClean="0"/>
              <a:t>used in large companies</a:t>
            </a:r>
          </a:p>
          <a:p>
            <a:r>
              <a:rPr lang="en-US" dirty="0" smtClean="0"/>
              <a:t>Programming in assembly language and FORTRAN</a:t>
            </a:r>
          </a:p>
          <a:p>
            <a:r>
              <a:rPr lang="en-US" dirty="0" smtClean="0"/>
              <a:t>Batch systems (IO was separated from calculations)</a:t>
            </a:r>
          </a:p>
          <a:p>
            <a:r>
              <a:rPr lang="en-US" dirty="0" smtClean="0"/>
              <a:t>Punched cards and magnetic tape</a:t>
            </a:r>
          </a:p>
          <a:p>
            <a:r>
              <a:rPr lang="en-US" dirty="0" smtClean="0"/>
              <a:t>Loaders (OS ancestors)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15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</a:t>
            </a:r>
            <a:r>
              <a:rPr lang="en-US" dirty="0"/>
              <a:t>Generation - </a:t>
            </a:r>
            <a:r>
              <a:rPr lang="en-US" dirty="0" smtClean="0"/>
              <a:t>Transistors</a:t>
            </a:r>
            <a:endParaRPr lang="en-US" dirty="0"/>
          </a:p>
        </p:txBody>
      </p:sp>
      <p:pic>
        <p:nvPicPr>
          <p:cNvPr id="1026" name="Picture 2" descr="https://upload.wikimedia.org/wikipedia/commons/thumb/f/fb/IBM_7094_console2.agr.JPG/1024px-IBM_7094_console2.ag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19024" y="1862630"/>
            <a:ext cx="4551680" cy="341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5091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P9927G  Integrated Circui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02544" y="102130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1" y="1178052"/>
            <a:ext cx="6362699" cy="52735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1965–1980: </a:t>
            </a:r>
            <a:r>
              <a:rPr lang="en-US" dirty="0" smtClean="0"/>
              <a:t>computer lines using the same instruction set architecture (e.g. IBM 360)</a:t>
            </a:r>
          </a:p>
          <a:p>
            <a:r>
              <a:rPr lang="en-US" dirty="0" smtClean="0"/>
              <a:t>First operating systems (e.g. OS/360, MULTICS)</a:t>
            </a:r>
          </a:p>
          <a:p>
            <a:r>
              <a:rPr lang="en-US" dirty="0"/>
              <a:t>M</a:t>
            </a:r>
            <a:r>
              <a:rPr lang="en-US" dirty="0" smtClean="0"/>
              <a:t>ultiprogramming</a:t>
            </a:r>
            <a:r>
              <a:rPr lang="ru-RU" dirty="0" smtClean="0"/>
              <a:t> </a:t>
            </a:r>
            <a:r>
              <a:rPr lang="en-US" dirty="0" smtClean="0"/>
              <a:t>and timesharing</a:t>
            </a:r>
          </a:p>
          <a:p>
            <a:r>
              <a:rPr lang="en-US" dirty="0" smtClean="0"/>
              <a:t>Computer as utility</a:t>
            </a:r>
          </a:p>
          <a:p>
            <a:r>
              <a:rPr lang="en-US" dirty="0" smtClean="0"/>
              <a:t>Programming languages and compilers (LISP, BASIC, C)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16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</a:t>
            </a:r>
            <a:r>
              <a:rPr lang="en-US" dirty="0"/>
              <a:t>Generation </a:t>
            </a:r>
            <a:r>
              <a:rPr lang="en-US" dirty="0" smtClean="0"/>
              <a:t>– Integrated Circuits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44825" y="3177032"/>
            <a:ext cx="2111513" cy="693093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3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44825" y="3873876"/>
            <a:ext cx="2111513" cy="690514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2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44825" y="4570795"/>
            <a:ext cx="2111513" cy="695939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1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44825" y="5267561"/>
            <a:ext cx="2111513" cy="1061280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Operating</a:t>
            </a:r>
          </a:p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System</a:t>
            </a:r>
            <a:endParaRPr lang="en-US" sz="3600" b="1" dirty="0">
              <a:solidFill>
                <a:srgbClr val="273272"/>
              </a:solidFill>
            </a:endParaRPr>
          </a:p>
        </p:txBody>
      </p:sp>
      <p:cxnSp>
        <p:nvCxnSpPr>
          <p:cNvPr id="14" name="Straight Connector 13"/>
          <p:cNvCxnSpPr>
            <a:endCxn id="7" idx="3"/>
          </p:cNvCxnSpPr>
          <p:nvPr/>
        </p:nvCxnSpPr>
        <p:spPr>
          <a:xfrm flipH="1" flipV="1">
            <a:off x="9456338" y="3523579"/>
            <a:ext cx="1094181" cy="1088744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10" idx="3"/>
          </p:cNvCxnSpPr>
          <p:nvPr/>
        </p:nvCxnSpPr>
        <p:spPr>
          <a:xfrm flipH="1">
            <a:off x="9456338" y="4599513"/>
            <a:ext cx="1071956" cy="1198688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9" idx="3"/>
          </p:cNvCxnSpPr>
          <p:nvPr/>
        </p:nvCxnSpPr>
        <p:spPr>
          <a:xfrm flipH="1">
            <a:off x="9456338" y="4599513"/>
            <a:ext cx="1071956" cy="319252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3"/>
          </p:cNvCxnSpPr>
          <p:nvPr/>
        </p:nvCxnSpPr>
        <p:spPr>
          <a:xfrm flipH="1" flipV="1">
            <a:off x="9456338" y="4219133"/>
            <a:ext cx="1071956" cy="386785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080183" y="3367486"/>
            <a:ext cx="1636648" cy="894678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800" b="1" dirty="0" smtClean="0">
                <a:solidFill>
                  <a:srgbClr val="1E3272"/>
                </a:solidFill>
              </a:rPr>
              <a:t>Memory Partitions</a:t>
            </a:r>
          </a:p>
        </p:txBody>
      </p:sp>
    </p:spTree>
    <p:extLst>
      <p:ext uri="{BB962C8B-B14F-4D97-AF65-F5344CB8AC3E}">
        <p14:creationId xmlns:p14="http://schemas.microsoft.com/office/powerpoint/2010/main" xmlns="" val="408717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2"/>
            <a:ext cx="7341704" cy="5492305"/>
          </a:xfrm>
        </p:spPr>
        <p:txBody>
          <a:bodyPr>
            <a:normAutofit/>
          </a:bodyPr>
          <a:lstStyle/>
          <a:p>
            <a:r>
              <a:rPr lang="en-US" dirty="0" smtClean="0"/>
              <a:t>1980–Present: personal computers, laptops, servers (Apple, IBM, etc.)</a:t>
            </a:r>
          </a:p>
          <a:p>
            <a:r>
              <a:rPr lang="en-US" dirty="0" smtClean="0"/>
              <a:t>Architectures: x86-64</a:t>
            </a:r>
            <a:r>
              <a:rPr lang="en-US" dirty="0"/>
              <a:t>, </a:t>
            </a:r>
            <a:r>
              <a:rPr lang="en-US" dirty="0" smtClean="0"/>
              <a:t>Itanium, ARM, MIPS, PowerPC, SPARC, RISC-V, etc.</a:t>
            </a:r>
          </a:p>
          <a:p>
            <a:r>
              <a:rPr lang="en-US" dirty="0" smtClean="0"/>
              <a:t>Operating systems: UNIX (System V and BSD), MINIX, Linux, </a:t>
            </a:r>
            <a:r>
              <a:rPr lang="en-US" dirty="0" err="1" smtClean="0"/>
              <a:t>MacOS</a:t>
            </a:r>
            <a:r>
              <a:rPr lang="en-US" dirty="0" smtClean="0"/>
              <a:t>, </a:t>
            </a:r>
            <a:r>
              <a:rPr lang="en-US" dirty="0"/>
              <a:t>DOS, </a:t>
            </a:r>
            <a:r>
              <a:rPr lang="en-US" dirty="0" smtClean="0"/>
              <a:t>Windows (NT)</a:t>
            </a:r>
          </a:p>
          <a:p>
            <a:r>
              <a:rPr lang="en-US" dirty="0" smtClean="0"/>
              <a:t>ISA (CISC, RISC, VLIW), </a:t>
            </a:r>
            <a:r>
              <a:rPr lang="en-US" dirty="0"/>
              <a:t>caches, </a:t>
            </a:r>
            <a:r>
              <a:rPr lang="en-US" dirty="0" smtClean="0"/>
              <a:t>pipelines, SIMD</a:t>
            </a:r>
            <a:r>
              <a:rPr lang="en-US" dirty="0"/>
              <a:t>, vectors, </a:t>
            </a:r>
            <a:r>
              <a:rPr lang="en-US" dirty="0" err="1" smtClean="0"/>
              <a:t>hyperthreading</a:t>
            </a:r>
            <a:r>
              <a:rPr lang="en-US" dirty="0" smtClean="0"/>
              <a:t>, multicore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17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History: </a:t>
            </a:r>
            <a:r>
              <a:rPr lang="en-US" dirty="0" smtClean="0"/>
              <a:t>4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Generation </a:t>
            </a:r>
            <a:r>
              <a:rPr lang="en-US" dirty="0" smtClean="0"/>
              <a:t>– VLSI and PC </a:t>
            </a:r>
            <a:endParaRPr lang="en-US" dirty="0"/>
          </a:p>
        </p:txBody>
      </p:sp>
      <p:pic>
        <p:nvPicPr>
          <p:cNvPr id="3074" name="Picture 2" descr="The Lisa - MacStori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52831" y="3586865"/>
            <a:ext cx="3315282" cy="217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ree VLSI Tutorial - IC Design Process: A Beginner's Overview to VLSI  Technology | Udem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78230" y="1286510"/>
            <a:ext cx="3286125" cy="18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2009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266953"/>
            <a:ext cx="6324600" cy="4997896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1990–Present: </a:t>
            </a:r>
            <a:r>
              <a:rPr lang="en-US" dirty="0"/>
              <a:t>mobile devices, embedded </a:t>
            </a:r>
            <a:r>
              <a:rPr lang="en-US" dirty="0" smtClean="0"/>
              <a:t>systems, </a:t>
            </a:r>
            <a:r>
              <a:rPr lang="en-US" dirty="0" err="1" smtClean="0"/>
              <a:t>IoT</a:t>
            </a:r>
            <a:r>
              <a:rPr lang="en-US" dirty="0" smtClean="0"/>
              <a:t> devices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Custom processors and FPGAs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Mobile operating systems: Symbian, iOS, Android, Windows Mobile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Real-time operating systems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18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Generation – </a:t>
            </a:r>
            <a:r>
              <a:rPr lang="en-US" dirty="0" smtClean="0"/>
              <a:t>Mobile devices </a:t>
            </a:r>
            <a:endParaRPr lang="en-US" dirty="0"/>
          </a:p>
        </p:txBody>
      </p:sp>
      <p:pic>
        <p:nvPicPr>
          <p:cNvPr id="5" name="Picture 14" descr="http://wrtassoc.com/wp-content/uploads/2010/01/iPad-w-hand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40663" y="1697847"/>
            <a:ext cx="3362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85684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06521" y="1144614"/>
            <a:ext cx="5962810" cy="260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19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Trends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98512" y="1074738"/>
            <a:ext cx="4675187" cy="290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36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7B217"/>
              </a:buClr>
              <a:buFont typeface="Wingdings" pitchFamily="2" charset="2"/>
              <a:buChar char="§"/>
              <a:defRPr sz="32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altLang="en-US" dirty="0" smtClean="0"/>
              <a:t>Electronics technology continues to evolve</a:t>
            </a:r>
          </a:p>
          <a:p>
            <a:pPr lvl="1"/>
            <a:r>
              <a:rPr lang="en-AU" altLang="en-US" dirty="0" smtClean="0"/>
              <a:t>Increased capacity and performance</a:t>
            </a:r>
          </a:p>
          <a:p>
            <a:pPr lvl="1"/>
            <a:r>
              <a:rPr lang="en-AU" altLang="en-US" dirty="0" smtClean="0"/>
              <a:t>Reduced cost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7467982" y="1074738"/>
            <a:ext cx="2450718" cy="461665"/>
          </a:xfrm>
          <a:prstGeom prst="rect">
            <a:avLst/>
          </a:prstGeom>
          <a:solidFill>
            <a:srgbClr val="2F5CB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b="1" dirty="0" smtClean="0">
                <a:solidFill>
                  <a:srgbClr val="F7B217"/>
                </a:solidFill>
                <a:latin typeface="+mn-lt"/>
              </a:rPr>
              <a:t>Memory capacity</a:t>
            </a:r>
            <a:endParaRPr lang="en-AU" altLang="en-US" sz="2400" b="1" dirty="0">
              <a:solidFill>
                <a:srgbClr val="F7B217"/>
              </a:solidFill>
              <a:latin typeface="+mn-l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13753623"/>
              </p:ext>
            </p:extLst>
          </p:nvPr>
        </p:nvGraphicFramePr>
        <p:xfrm>
          <a:off x="2137778" y="3879876"/>
          <a:ext cx="8365122" cy="27426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8717"/>
                <a:gridCol w="3481005"/>
                <a:gridCol w="3835400"/>
              </a:tblGrid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Year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Technology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Relative performance/cost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1951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Vacuum tube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1965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Transistor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35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1975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Integrated circuit (IC)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900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1995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Very large scale IC (VLSI)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2,400,000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2013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Ultra large scale IC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250,000,000,000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535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30" y="1178053"/>
            <a:ext cx="10299670" cy="54923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Gordon Moore (1929-...) cofounded Intel in 1968 with Robert </a:t>
            </a:r>
            <a:r>
              <a:rPr lang="en-US" dirty="0" smtClean="0"/>
              <a:t>Noyce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Moore’s </a:t>
            </a:r>
            <a:r>
              <a:rPr lang="en-US" b="1" dirty="0"/>
              <a:t>Law: </a:t>
            </a:r>
            <a:r>
              <a:rPr lang="en-US" dirty="0"/>
              <a:t>number of transistors on a computer chip doubles every </a:t>
            </a:r>
            <a:r>
              <a:rPr lang="en-US" dirty="0" smtClean="0"/>
              <a:t>year (observed in 1965)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Limited by power consumption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Slowed down since 2010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20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Moore’s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401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21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Single Core Performance</a:t>
            </a:r>
            <a:endParaRPr lang="ru-R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9160" y="1029301"/>
            <a:ext cx="9371076" cy="5235321"/>
          </a:xfrm>
          <a:prstGeom prst="rect">
            <a:avLst/>
          </a:prstGeom>
        </p:spPr>
      </p:pic>
      <p:sp>
        <p:nvSpPr>
          <p:cNvPr id="6" name="AutoShape 7"/>
          <p:cNvSpPr>
            <a:spLocks/>
          </p:cNvSpPr>
          <p:nvPr/>
        </p:nvSpPr>
        <p:spPr bwMode="auto">
          <a:xfrm>
            <a:off x="2196548" y="6301690"/>
            <a:ext cx="7486649" cy="387346"/>
          </a:xfrm>
          <a:prstGeom prst="borderCallout1">
            <a:avLst>
              <a:gd name="adj1" fmla="val -18326"/>
              <a:gd name="adj2" fmla="val 90883"/>
              <a:gd name="adj3" fmla="val -468578"/>
              <a:gd name="adj4" fmla="val 105938"/>
            </a:avLst>
          </a:prstGeom>
          <a:solidFill>
            <a:schemeClr val="accent1"/>
          </a:solidFill>
          <a:ln w="25400">
            <a:solidFill>
              <a:srgbClr val="273272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000" dirty="0">
                <a:latin typeface="+mn-lt"/>
              </a:rPr>
              <a:t>Constrained by power, instruction-level parallelism, memory latency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177680" y="1016124"/>
            <a:ext cx="324036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Move to multicore</a:t>
            </a:r>
            <a:endParaRPr lang="en-GB" sz="20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6464688" y="1399594"/>
            <a:ext cx="1152132" cy="86409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xmlns="" val="197419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22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Trends</a:t>
            </a: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1" y="1295416"/>
            <a:ext cx="10532504" cy="462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2704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23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Performance Gap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0219" y="1372715"/>
            <a:ext cx="9615812" cy="481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529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5104" y="1019056"/>
            <a:ext cx="10515600" cy="52823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Single core performance </a:t>
            </a:r>
            <a:r>
              <a:rPr lang="en-US" dirty="0"/>
              <a:t>improvement </a:t>
            </a:r>
            <a:r>
              <a:rPr lang="en-US" dirty="0" smtClean="0"/>
              <a:t>has ended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More powerful microprocessor might not help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Memory-efficient 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Temporal locality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Spatial locality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Parallelism to improve performance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Data-level parallelism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Thread-level </a:t>
            </a:r>
            <a:r>
              <a:rPr lang="en-US" dirty="0" smtClean="0"/>
              <a:t>parallelism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Request-level parallelism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Performance tuning require changes in the application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24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Challenges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481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070928"/>
            <a:ext cx="6314742" cy="54923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To create software that efficiently deals with big data, we need to understand how hardware is organized and managed by operating system 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Computer architecture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Assembly language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Compiler basics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Operating systems</a:t>
            </a:r>
            <a:endParaRPr lang="en-US" sz="3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25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Concluding Remarks</a:t>
            </a: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420142" y="1095754"/>
            <a:ext cx="2268187" cy="5542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Левая фигурная скобка 9"/>
          <p:cNvSpPr/>
          <p:nvPr/>
        </p:nvSpPr>
        <p:spPr>
          <a:xfrm rot="10800000">
            <a:off x="9795067" y="1110684"/>
            <a:ext cx="570015" cy="2410690"/>
          </a:xfrm>
          <a:prstGeom prst="leftBrace">
            <a:avLst/>
          </a:prstGeom>
          <a:ln w="50800">
            <a:solidFill>
              <a:srgbClr val="F7B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277649" y="2506124"/>
            <a:ext cx="1058462" cy="1128156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r>
              <a:rPr lang="en-US" sz="2800" b="1" dirty="0" smtClean="0">
                <a:solidFill>
                  <a:srgbClr val="273272"/>
                </a:solidFill>
                <a:cs typeface="Times New Roman" pitchFamily="18" charset="0"/>
              </a:rPr>
              <a:t>Focus</a:t>
            </a:r>
          </a:p>
          <a:p>
            <a:r>
              <a:rPr lang="en-US" sz="2800" b="1" dirty="0" smtClean="0">
                <a:solidFill>
                  <a:srgbClr val="273272"/>
                </a:solidFill>
                <a:cs typeface="Times New Roman" pitchFamily="18" charset="0"/>
              </a:rPr>
              <a:t>of this course</a:t>
            </a:r>
            <a:endParaRPr lang="ru-RU" sz="2800" b="1" dirty="0" smtClean="0">
              <a:solidFill>
                <a:srgbClr val="273272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9312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64999" y="472120"/>
            <a:ext cx="7524751" cy="5262979"/>
          </a:xfrm>
          <a:prstGeom prst="rect">
            <a:avLst/>
          </a:prstGeom>
          <a:noFill/>
          <a:ln>
            <a:noFill/>
          </a:ln>
          <a:scene3d>
            <a:camera prst="perspectiveRelaxed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.text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__start: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t1, zero, 0x18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t2, zero, 0x21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cycle: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t1, t2, done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slt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zero, 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sub t1,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:	sub t2, t2, t1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done:		add t3, t1, zero</a:t>
            </a:r>
            <a:endParaRPr lang="ru-RU" sz="2400" b="0" cap="none" spc="0" dirty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Any Questions?</a:t>
            </a:r>
            <a:endParaRPr lang="ru-RU" sz="40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1787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ымчатое стекло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lIns="72000" tIns="25200" rIns="0" bIns="25200" rtlCol="0" anchor="ctr" anchorCtr="0">
        <a:normAutofit/>
      </a:bodyPr>
      <a:lstStyle>
        <a:defPPr>
          <a:defRPr sz="4400" b="0" dirty="0" smtClean="0">
            <a:solidFill>
              <a:srgbClr val="2E5E8E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10144</TotalTime>
  <Words>954</Words>
  <Application>Microsoft Office PowerPoint</Application>
  <PresentationFormat>Произвольный</PresentationFormat>
  <Paragraphs>257</Paragraphs>
  <Slides>26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Computer Architecture and Operating Systems Lecture 1: Introduction</vt:lpstr>
      <vt:lpstr>Course Resources</vt:lpstr>
      <vt:lpstr>DSBA Course Team</vt:lpstr>
      <vt:lpstr>COMPDS Course Team</vt:lpstr>
      <vt:lpstr>Course Outline</vt:lpstr>
      <vt:lpstr>Course Motivation</vt:lpstr>
      <vt:lpstr>Example: Matrix Multiplication (part 1)</vt:lpstr>
      <vt:lpstr>Example: Matrix Multiplication (part 2)</vt:lpstr>
      <vt:lpstr>Example: Matrix Multiplication (part 3)</vt:lpstr>
      <vt:lpstr>Example: Matrix Multiplication (part 4)</vt:lpstr>
      <vt:lpstr>Example: Matrix Multiplication (part 5)</vt:lpstr>
      <vt:lpstr>What affects performance?</vt:lpstr>
      <vt:lpstr>History: 0th Generation – Mechanical</vt:lpstr>
      <vt:lpstr>History: 1st Generation - Vacuum Tubes</vt:lpstr>
      <vt:lpstr>History: 2nd Generation - Transistors</vt:lpstr>
      <vt:lpstr>History: 3rd Generation – Integrated Circuits</vt:lpstr>
      <vt:lpstr>History: 4th Generation – VLSI and PC </vt:lpstr>
      <vt:lpstr>History: 5th Generation – Mobile devices </vt:lpstr>
      <vt:lpstr>Technology Trends</vt:lpstr>
      <vt:lpstr>Moore’s Law</vt:lpstr>
      <vt:lpstr>Single Core Performance</vt:lpstr>
      <vt:lpstr>Power Trends</vt:lpstr>
      <vt:lpstr>Memory Performance Gap</vt:lpstr>
      <vt:lpstr>Current Challenges</vt:lpstr>
      <vt:lpstr>Concluding Remarks</vt:lpstr>
      <vt:lpstr>Any Questions?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Operating Systems Lecture X: Lecture Topic</dc:title>
  <dc:creator>Sergey</dc:creator>
  <cp:lastModifiedBy>Sergey</cp:lastModifiedBy>
  <cp:revision>145</cp:revision>
  <dcterms:created xsi:type="dcterms:W3CDTF">2015-11-11T03:30:50Z</dcterms:created>
  <dcterms:modified xsi:type="dcterms:W3CDTF">2026-01-12T17:15:32Z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(2)G/0n5s0OJt210kN0rMWPVQgnJI6CDE+6BJT+m6OwLQhkCYjwBoWUkYgkanWIKkgRsYh1B8Uj
e9GKfJM6aX3r56ETiFwURgdOiBOzXg//2GJs86GhGmUDxNF53xchHKM7j5AmpDAb9kCVOthI
Vzwq8aqehDohU2q0rm75EVuWLFLycQxUptlmAykA+3y+mCquEUlzScYjU+C0yNJA0e25zFTR
VsiptQwuBlrGi0PH0B</vt:lpwstr>
  </property>
  <property fmtid="{D5CDD505-2E9C-101B-9397-08002B2CF9AE}" pid="3" name="_2015_ms_pID_7253431">
    <vt:lpwstr>cFpAZV5KZCnc4SP5f7FtzXr/76MDjckm9A3DXxVCfqeMgEQYiQ0I+M
4j2HbcKpUuwdcu9RQEEs4C2URPiN+OAiEjj+Hnx0ogsoNU0RUZ2tVUDezP69WF3SgS0C61Fy
Mt8fLffal9Igb8Y/bfA71baKTUgfKfEcrC/ahGnsp/HEWn8Mjtc1ed1HsSBiMbW5tJ3TsC4f
MGpi5EfdQ8hu73PY</vt:lpwstr>
  </property>
</Properties>
</file>